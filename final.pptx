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20" r:id="rId1"/>
  </p:sldMasterIdLst>
  <p:notesMasterIdLst>
    <p:notesMasterId r:id="rId16"/>
  </p:notesMasterIdLst>
  <p:sldIdLst>
    <p:sldId id="256" r:id="rId2"/>
    <p:sldId id="375" r:id="rId3"/>
    <p:sldId id="408" r:id="rId4"/>
    <p:sldId id="444" r:id="rId5"/>
    <p:sldId id="445" r:id="rId6"/>
    <p:sldId id="374" r:id="rId7"/>
    <p:sldId id="440" r:id="rId8"/>
    <p:sldId id="389" r:id="rId9"/>
    <p:sldId id="442" r:id="rId10"/>
    <p:sldId id="441" r:id="rId11"/>
    <p:sldId id="446" r:id="rId12"/>
    <p:sldId id="439" r:id="rId13"/>
    <p:sldId id="448" r:id="rId14"/>
    <p:sldId id="38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E108AC2-3472-49B1-A09D-63BCFFADCA12}">
          <p14:sldIdLst>
            <p14:sldId id="256"/>
            <p14:sldId id="375"/>
            <p14:sldId id="408"/>
            <p14:sldId id="444"/>
            <p14:sldId id="445"/>
            <p14:sldId id="374"/>
            <p14:sldId id="440"/>
            <p14:sldId id="389"/>
            <p14:sldId id="442"/>
            <p14:sldId id="441"/>
            <p14:sldId id="446"/>
            <p14:sldId id="439"/>
            <p14:sldId id="448"/>
            <p14:sldId id="386"/>
          </p14:sldIdLst>
        </p14:section>
        <p14:section name="Untitled Section" id="{48A48745-FFD4-4853-A62C-A65212AF0D2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0282"/>
    <a:srgbClr val="2E75B6"/>
    <a:srgbClr val="B4D8F0"/>
    <a:srgbClr val="45CEF9"/>
    <a:srgbClr val="239B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45AEAE-9439-480D-9669-B0D33554B743}" v="482" dt="2025-11-09T23:13:02.8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002" autoAdjust="0"/>
    <p:restoredTop sz="94660"/>
  </p:normalViewPr>
  <p:slideViewPr>
    <p:cSldViewPr snapToGrid="0">
      <p:cViewPr varScale="1">
        <p:scale>
          <a:sx n="80" d="100"/>
          <a:sy n="80" d="100"/>
        </p:scale>
        <p:origin x="1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E9D271-6237-4937-9BE2-88FC576FC67E}" type="doc">
      <dgm:prSet loTypeId="urn:microsoft.com/office/officeart/2018/2/layout/IconVerticalSolidList" loCatId="icon" qsTypeId="urn:microsoft.com/office/officeart/2005/8/quickstyle/simple4" qsCatId="simple" csTypeId="urn:microsoft.com/office/officeart/2005/8/colors/accent1_2" csCatId="accent1" phldr="1"/>
      <dgm:spPr/>
      <dgm:t>
        <a:bodyPr/>
        <a:lstStyle/>
        <a:p>
          <a:endParaRPr lang="en-US"/>
        </a:p>
      </dgm:t>
    </dgm:pt>
    <dgm:pt modelId="{38860F46-4E51-423B-912B-5F8BD5AA637C}">
      <dgm:prSet/>
      <dgm:spPr/>
      <dgm:t>
        <a:bodyPr/>
        <a:lstStyle/>
        <a:p>
          <a:pPr>
            <a:lnSpc>
              <a:spcPct val="100000"/>
            </a:lnSpc>
          </a:pPr>
          <a:r>
            <a:rPr lang="en-US" dirty="0">
              <a:latin typeface="Times New Roman" panose="02020603050405020304" pitchFamily="18" charset="0"/>
              <a:cs typeface="Times New Roman" panose="02020603050405020304" pitchFamily="18" charset="0"/>
            </a:rPr>
            <a:t>Introduction</a:t>
          </a:r>
        </a:p>
      </dgm:t>
    </dgm:pt>
    <dgm:pt modelId="{2D502A36-A806-4D3D-83E9-EFE453C9B412}" type="parTrans" cxnId="{605E43D6-7EFE-480B-AA63-F999C35B8997}">
      <dgm:prSet/>
      <dgm:spPr/>
      <dgm:t>
        <a:bodyPr/>
        <a:lstStyle/>
        <a:p>
          <a:endParaRPr lang="en-US"/>
        </a:p>
      </dgm:t>
    </dgm:pt>
    <dgm:pt modelId="{FB737956-0942-4B6A-AC1E-DD2617DC35F1}" type="sibTrans" cxnId="{605E43D6-7EFE-480B-AA63-F999C35B8997}">
      <dgm:prSet/>
      <dgm:spPr/>
      <dgm:t>
        <a:bodyPr/>
        <a:lstStyle/>
        <a:p>
          <a:endParaRPr lang="en-US"/>
        </a:p>
      </dgm:t>
    </dgm:pt>
    <dgm:pt modelId="{8B1C7037-84A6-496E-AB48-C2497C007DFC}">
      <dgm:prSet/>
      <dgm:spPr/>
      <dgm:t>
        <a:bodyPr/>
        <a:lstStyle/>
        <a:p>
          <a:pPr>
            <a:lnSpc>
              <a:spcPct val="100000"/>
            </a:lnSpc>
          </a:pPr>
          <a:r>
            <a:rPr lang="en-US" dirty="0">
              <a:latin typeface="Times New Roman" panose="02020603050405020304" pitchFamily="18" charset="0"/>
              <a:cs typeface="Times New Roman" panose="02020603050405020304" pitchFamily="18" charset="0"/>
            </a:rPr>
            <a:t>Common Motor Failures	</a:t>
          </a:r>
        </a:p>
      </dgm:t>
    </dgm:pt>
    <dgm:pt modelId="{91CEE25D-B837-46AC-84C1-5337167428A4}" type="parTrans" cxnId="{5E6DE129-4A48-482A-AC66-F76FDF2E9168}">
      <dgm:prSet/>
      <dgm:spPr/>
      <dgm:t>
        <a:bodyPr/>
        <a:lstStyle/>
        <a:p>
          <a:endParaRPr lang="en-US"/>
        </a:p>
      </dgm:t>
    </dgm:pt>
    <dgm:pt modelId="{51244070-41C6-4C98-8AF6-512E28D3FDFE}" type="sibTrans" cxnId="{5E6DE129-4A48-482A-AC66-F76FDF2E9168}">
      <dgm:prSet/>
      <dgm:spPr/>
      <dgm:t>
        <a:bodyPr/>
        <a:lstStyle/>
        <a:p>
          <a:endParaRPr lang="en-US"/>
        </a:p>
      </dgm:t>
    </dgm:pt>
    <dgm:pt modelId="{12D7A860-4BB2-4625-AACB-899A3A96EBE1}">
      <dgm:prSet/>
      <dgm:spPr/>
      <dgm:t>
        <a:bodyPr/>
        <a:lstStyle/>
        <a:p>
          <a:pPr>
            <a:lnSpc>
              <a:spcPct val="100000"/>
            </a:lnSpc>
          </a:pPr>
          <a:r>
            <a:rPr lang="en-US" dirty="0">
              <a:latin typeface="Times New Roman" panose="02020603050405020304" pitchFamily="18" charset="0"/>
              <a:cs typeface="Times New Roman" panose="02020603050405020304" pitchFamily="18" charset="0"/>
            </a:rPr>
            <a:t>Common Bearing Failures</a:t>
          </a:r>
        </a:p>
      </dgm:t>
    </dgm:pt>
    <dgm:pt modelId="{3218B3CD-32AC-481D-8EFB-4E0987BA7E4A}" type="parTrans" cxnId="{FD2A6D26-737A-4DEF-A2C9-AEF25662E38E}">
      <dgm:prSet/>
      <dgm:spPr/>
      <dgm:t>
        <a:bodyPr/>
        <a:lstStyle/>
        <a:p>
          <a:endParaRPr lang="en-US"/>
        </a:p>
      </dgm:t>
    </dgm:pt>
    <dgm:pt modelId="{057D064B-2F9B-4F16-9F73-F0F97A036063}" type="sibTrans" cxnId="{FD2A6D26-737A-4DEF-A2C9-AEF25662E38E}">
      <dgm:prSet/>
      <dgm:spPr/>
      <dgm:t>
        <a:bodyPr/>
        <a:lstStyle/>
        <a:p>
          <a:endParaRPr lang="en-US"/>
        </a:p>
      </dgm:t>
    </dgm:pt>
    <dgm:pt modelId="{79BBD028-6AA4-4BBA-A99B-9E1EC5C93982}">
      <dgm:prSet/>
      <dgm:spPr/>
      <dgm:t>
        <a:bodyPr/>
        <a:lstStyle/>
        <a:p>
          <a:pPr>
            <a:lnSpc>
              <a:spcPct val="100000"/>
            </a:lnSpc>
          </a:pPr>
          <a:r>
            <a:rPr lang="en-US" dirty="0">
              <a:latin typeface="Times New Roman" panose="02020603050405020304" pitchFamily="18" charset="0"/>
              <a:cs typeface="Times New Roman" panose="02020603050405020304" pitchFamily="18" charset="0"/>
            </a:rPr>
            <a:t>Lubrication Composition</a:t>
          </a:r>
        </a:p>
      </dgm:t>
    </dgm:pt>
    <dgm:pt modelId="{1C19E985-20BF-4E59-8D55-C5D685D0C154}" type="parTrans" cxnId="{8D88B8B9-50ED-4810-82D4-0DCBA8AC321E}">
      <dgm:prSet/>
      <dgm:spPr/>
      <dgm:t>
        <a:bodyPr/>
        <a:lstStyle/>
        <a:p>
          <a:endParaRPr lang="en-US"/>
        </a:p>
      </dgm:t>
    </dgm:pt>
    <dgm:pt modelId="{756D01B8-AAB1-45AA-AFCA-E7E47EFB9D5F}" type="sibTrans" cxnId="{8D88B8B9-50ED-4810-82D4-0DCBA8AC321E}">
      <dgm:prSet/>
      <dgm:spPr/>
      <dgm:t>
        <a:bodyPr/>
        <a:lstStyle/>
        <a:p>
          <a:endParaRPr lang="en-US"/>
        </a:p>
      </dgm:t>
    </dgm:pt>
    <dgm:pt modelId="{C4174E58-9B9A-4099-B26E-EDEB0ADE92CF}">
      <dgm:prSet/>
      <dgm:spPr/>
      <dgm:t>
        <a:bodyPr/>
        <a:lstStyle/>
        <a:p>
          <a:pPr>
            <a:lnSpc>
              <a:spcPct val="100000"/>
            </a:lnSpc>
          </a:pPr>
          <a:r>
            <a:rPr lang="en-US" dirty="0">
              <a:latin typeface="Times New Roman" panose="02020603050405020304" pitchFamily="18" charset="0"/>
              <a:cs typeface="Times New Roman" panose="02020603050405020304" pitchFamily="18" charset="0"/>
            </a:rPr>
            <a:t>Strategies For Improving MTBF		</a:t>
          </a:r>
        </a:p>
      </dgm:t>
    </dgm:pt>
    <dgm:pt modelId="{6FD85ED1-42DF-4BBA-BC59-4AC8AFB87FFF}" type="parTrans" cxnId="{F8942182-7436-49D9-AE21-663320FA5FDE}">
      <dgm:prSet/>
      <dgm:spPr/>
      <dgm:t>
        <a:bodyPr/>
        <a:lstStyle/>
        <a:p>
          <a:endParaRPr lang="en-US"/>
        </a:p>
      </dgm:t>
    </dgm:pt>
    <dgm:pt modelId="{8D29CA48-9980-47AA-BE53-82509DD644D1}" type="sibTrans" cxnId="{F8942182-7436-49D9-AE21-663320FA5FDE}">
      <dgm:prSet/>
      <dgm:spPr/>
      <dgm:t>
        <a:bodyPr/>
        <a:lstStyle/>
        <a:p>
          <a:endParaRPr lang="en-US"/>
        </a:p>
      </dgm:t>
    </dgm:pt>
    <dgm:pt modelId="{09801888-6B47-46AE-B871-92C052B8A9A2}">
      <dgm:prSet/>
      <dgm:spPr/>
      <dgm:t>
        <a:bodyPr/>
        <a:lstStyle/>
        <a:p>
          <a:pPr>
            <a:lnSpc>
              <a:spcPct val="100000"/>
            </a:lnSpc>
          </a:pPr>
          <a:r>
            <a:rPr lang="en-US" dirty="0">
              <a:latin typeface="Times New Roman" panose="02020603050405020304" pitchFamily="18" charset="0"/>
              <a:cs typeface="Times New Roman" panose="02020603050405020304" pitchFamily="18" charset="0"/>
            </a:rPr>
            <a:t>Conclusion</a:t>
          </a:r>
        </a:p>
      </dgm:t>
    </dgm:pt>
    <dgm:pt modelId="{EEFAA2E3-FFA2-4B04-A86F-00118F071E33}" type="parTrans" cxnId="{C19969F9-A90A-4892-AFB8-EAAA40A815DA}">
      <dgm:prSet/>
      <dgm:spPr/>
      <dgm:t>
        <a:bodyPr/>
        <a:lstStyle/>
        <a:p>
          <a:endParaRPr lang="en-US"/>
        </a:p>
      </dgm:t>
    </dgm:pt>
    <dgm:pt modelId="{321C3E1F-7B99-436E-B4FC-15D00620E6C2}" type="sibTrans" cxnId="{C19969F9-A90A-4892-AFB8-EAAA40A815DA}">
      <dgm:prSet/>
      <dgm:spPr/>
      <dgm:t>
        <a:bodyPr/>
        <a:lstStyle/>
        <a:p>
          <a:endParaRPr lang="en-US"/>
        </a:p>
      </dgm:t>
    </dgm:pt>
    <dgm:pt modelId="{6E6C821F-5E52-468D-A1C4-1BE754D1A88D}">
      <dgm:prSet/>
      <dgm:spPr/>
      <dgm:t>
        <a:bodyPr/>
        <a:lstStyle/>
        <a:p>
          <a:pPr>
            <a:lnSpc>
              <a:spcPct val="100000"/>
            </a:lnSpc>
          </a:pPr>
          <a:r>
            <a:rPr lang="en-US" baseline="0"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dgm:t>
    </dgm:pt>
    <dgm:pt modelId="{4A0B81C3-FEB4-4D4D-8C7B-6A5E4E959FD5}" type="parTrans" cxnId="{AD7550FF-B50D-4F54-AC76-0256D93A0301}">
      <dgm:prSet/>
      <dgm:spPr/>
      <dgm:t>
        <a:bodyPr/>
        <a:lstStyle/>
        <a:p>
          <a:endParaRPr lang="en-US"/>
        </a:p>
      </dgm:t>
    </dgm:pt>
    <dgm:pt modelId="{CE813EC9-2965-40E2-BEAC-32B40E3C358F}" type="sibTrans" cxnId="{AD7550FF-B50D-4F54-AC76-0256D93A0301}">
      <dgm:prSet/>
      <dgm:spPr/>
      <dgm:t>
        <a:bodyPr/>
        <a:lstStyle/>
        <a:p>
          <a:endParaRPr lang="en-US"/>
        </a:p>
      </dgm:t>
    </dgm:pt>
    <dgm:pt modelId="{2E73CC89-8E6A-4287-8074-07911EBF5C38}" type="pres">
      <dgm:prSet presAssocID="{C2E9D271-6237-4937-9BE2-88FC576FC67E}" presName="root" presStyleCnt="0">
        <dgm:presLayoutVars>
          <dgm:dir/>
          <dgm:resizeHandles val="exact"/>
        </dgm:presLayoutVars>
      </dgm:prSet>
      <dgm:spPr/>
    </dgm:pt>
    <dgm:pt modelId="{A6FB760E-AAA9-4A1A-B075-46D7E5EFD470}" type="pres">
      <dgm:prSet presAssocID="{38860F46-4E51-423B-912B-5F8BD5AA637C}" presName="compNode" presStyleCnt="0"/>
      <dgm:spPr/>
    </dgm:pt>
    <dgm:pt modelId="{70061250-0F73-4A0A-8442-438709400B12}" type="pres">
      <dgm:prSet presAssocID="{38860F46-4E51-423B-912B-5F8BD5AA637C}" presName="bgRect" presStyleLbl="bgShp" presStyleIdx="0" presStyleCnt="7" custLinFactNeighborX="2243" custLinFactNeighborY="-7750"/>
      <dgm:spPr/>
    </dgm:pt>
    <dgm:pt modelId="{84AB902E-4FCB-45ED-B327-79640CB62305}" type="pres">
      <dgm:prSet presAssocID="{38860F46-4E51-423B-912B-5F8BD5AA637C}"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ke"/>
        </a:ext>
      </dgm:extLst>
    </dgm:pt>
    <dgm:pt modelId="{8F5AF1AF-B6F3-4912-A5C0-5C4D62943348}" type="pres">
      <dgm:prSet presAssocID="{38860F46-4E51-423B-912B-5F8BD5AA637C}" presName="spaceRect" presStyleCnt="0"/>
      <dgm:spPr/>
    </dgm:pt>
    <dgm:pt modelId="{347E1523-7B70-412D-92D2-00CC15424A40}" type="pres">
      <dgm:prSet presAssocID="{38860F46-4E51-423B-912B-5F8BD5AA637C}" presName="parTx" presStyleLbl="revTx" presStyleIdx="0" presStyleCnt="7">
        <dgm:presLayoutVars>
          <dgm:chMax val="0"/>
          <dgm:chPref val="0"/>
        </dgm:presLayoutVars>
      </dgm:prSet>
      <dgm:spPr/>
    </dgm:pt>
    <dgm:pt modelId="{301551D6-8AED-4A57-A6A2-026058F934CC}" type="pres">
      <dgm:prSet presAssocID="{FB737956-0942-4B6A-AC1E-DD2617DC35F1}" presName="sibTrans" presStyleCnt="0"/>
      <dgm:spPr/>
    </dgm:pt>
    <dgm:pt modelId="{65D2D1F8-2B85-4503-8A97-C5890F3B9032}" type="pres">
      <dgm:prSet presAssocID="{8B1C7037-84A6-496E-AB48-C2497C007DFC}" presName="compNode" presStyleCnt="0"/>
      <dgm:spPr/>
    </dgm:pt>
    <dgm:pt modelId="{A0E2A94C-0217-4058-8FF6-281422C6FE38}" type="pres">
      <dgm:prSet presAssocID="{8B1C7037-84A6-496E-AB48-C2497C007DFC}" presName="bgRect" presStyleLbl="bgShp" presStyleIdx="1" presStyleCnt="7"/>
      <dgm:spPr/>
    </dgm:pt>
    <dgm:pt modelId="{64FA4CE4-58A0-49CF-BB2E-817F60F97D6A}" type="pres">
      <dgm:prSet presAssocID="{8B1C7037-84A6-496E-AB48-C2497C007DFC}"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abric Report Library"/>
        </a:ext>
      </dgm:extLst>
    </dgm:pt>
    <dgm:pt modelId="{1F01BC96-7F02-4E0D-8624-F1598263DC15}" type="pres">
      <dgm:prSet presAssocID="{8B1C7037-84A6-496E-AB48-C2497C007DFC}" presName="spaceRect" presStyleCnt="0"/>
      <dgm:spPr/>
    </dgm:pt>
    <dgm:pt modelId="{47CC9DBE-1143-4272-812C-661735808F7F}" type="pres">
      <dgm:prSet presAssocID="{8B1C7037-84A6-496E-AB48-C2497C007DFC}" presName="parTx" presStyleLbl="revTx" presStyleIdx="1" presStyleCnt="7">
        <dgm:presLayoutVars>
          <dgm:chMax val="0"/>
          <dgm:chPref val="0"/>
        </dgm:presLayoutVars>
      </dgm:prSet>
      <dgm:spPr/>
    </dgm:pt>
    <dgm:pt modelId="{EBB0DC27-3B0C-4D8A-B2D1-2758A0783379}" type="pres">
      <dgm:prSet presAssocID="{51244070-41C6-4C98-8AF6-512E28D3FDFE}" presName="sibTrans" presStyleCnt="0"/>
      <dgm:spPr/>
    </dgm:pt>
    <dgm:pt modelId="{07157C6E-51E3-45D9-8F0B-CCC4DC5C2838}" type="pres">
      <dgm:prSet presAssocID="{12D7A860-4BB2-4625-AACB-899A3A96EBE1}" presName="compNode" presStyleCnt="0"/>
      <dgm:spPr/>
    </dgm:pt>
    <dgm:pt modelId="{4C06B58D-C46A-4140-8431-6029CC7FD3F7}" type="pres">
      <dgm:prSet presAssocID="{12D7A860-4BB2-4625-AACB-899A3A96EBE1}" presName="bgRect" presStyleLbl="bgShp" presStyleIdx="2" presStyleCnt="7"/>
      <dgm:spPr/>
    </dgm:pt>
    <dgm:pt modelId="{C96B8F0E-C59F-40D0-BA1D-44CCE55F5217}" type="pres">
      <dgm:prSet presAssocID="{12D7A860-4BB2-4625-AACB-899A3A96EBE1}" presName="iconRect" presStyleLbl="node1" presStyleIdx="2" presStyleCnt="7"/>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Workflow with solid fill"/>
        </a:ext>
      </dgm:extLst>
    </dgm:pt>
    <dgm:pt modelId="{41A54E3B-0F8C-40E3-BA2C-751554794E53}" type="pres">
      <dgm:prSet presAssocID="{12D7A860-4BB2-4625-AACB-899A3A96EBE1}" presName="spaceRect" presStyleCnt="0"/>
      <dgm:spPr/>
    </dgm:pt>
    <dgm:pt modelId="{4BCA94D9-E6E6-413E-8CF7-7D6F7601FF14}" type="pres">
      <dgm:prSet presAssocID="{12D7A860-4BB2-4625-AACB-899A3A96EBE1}" presName="parTx" presStyleLbl="revTx" presStyleIdx="2" presStyleCnt="7">
        <dgm:presLayoutVars>
          <dgm:chMax val="0"/>
          <dgm:chPref val="0"/>
        </dgm:presLayoutVars>
      </dgm:prSet>
      <dgm:spPr/>
    </dgm:pt>
    <dgm:pt modelId="{A6A1AF55-8B5F-44F6-94DD-568D277F49FE}" type="pres">
      <dgm:prSet presAssocID="{057D064B-2F9B-4F16-9F73-F0F97A036063}" presName="sibTrans" presStyleCnt="0"/>
      <dgm:spPr/>
    </dgm:pt>
    <dgm:pt modelId="{6E26D1A2-FFE3-4627-B60B-2BD9DD43E36C}" type="pres">
      <dgm:prSet presAssocID="{79BBD028-6AA4-4BBA-A99B-9E1EC5C93982}" presName="compNode" presStyleCnt="0"/>
      <dgm:spPr/>
    </dgm:pt>
    <dgm:pt modelId="{73AA6DE6-65F9-4B5D-B38E-B39C3DAC981B}" type="pres">
      <dgm:prSet presAssocID="{79BBD028-6AA4-4BBA-A99B-9E1EC5C93982}" presName="bgRect" presStyleLbl="bgShp" presStyleIdx="3" presStyleCnt="7"/>
      <dgm:spPr/>
    </dgm:pt>
    <dgm:pt modelId="{BE5812A3-A8CC-4727-8779-5FF17007A120}" type="pres">
      <dgm:prSet presAssocID="{79BBD028-6AA4-4BBA-A99B-9E1EC5C93982}" presName="iconRect" presStyleLbl="node1" presStyleIdx="3" presStyleCnt="7"/>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Production outline"/>
        </a:ext>
      </dgm:extLst>
    </dgm:pt>
    <dgm:pt modelId="{E4A615FD-54F4-4F48-9793-31C6873F1B37}" type="pres">
      <dgm:prSet presAssocID="{79BBD028-6AA4-4BBA-A99B-9E1EC5C93982}" presName="spaceRect" presStyleCnt="0"/>
      <dgm:spPr/>
    </dgm:pt>
    <dgm:pt modelId="{E605184A-61E6-4488-B924-7ABBC68B155F}" type="pres">
      <dgm:prSet presAssocID="{79BBD028-6AA4-4BBA-A99B-9E1EC5C93982}" presName="parTx" presStyleLbl="revTx" presStyleIdx="3" presStyleCnt="7">
        <dgm:presLayoutVars>
          <dgm:chMax val="0"/>
          <dgm:chPref val="0"/>
        </dgm:presLayoutVars>
      </dgm:prSet>
      <dgm:spPr/>
    </dgm:pt>
    <dgm:pt modelId="{1ECBD170-8151-43FD-A262-4CDC32C6BEA9}" type="pres">
      <dgm:prSet presAssocID="{756D01B8-AAB1-45AA-AFCA-E7E47EFB9D5F}" presName="sibTrans" presStyleCnt="0"/>
      <dgm:spPr/>
    </dgm:pt>
    <dgm:pt modelId="{3BBBE703-D7F4-4E02-BD29-23E7B9DF92AA}" type="pres">
      <dgm:prSet presAssocID="{C4174E58-9B9A-4099-B26E-EDEB0ADE92CF}" presName="compNode" presStyleCnt="0"/>
      <dgm:spPr/>
    </dgm:pt>
    <dgm:pt modelId="{4B16FCD5-0FB6-489A-8558-8C04F8CFA213}" type="pres">
      <dgm:prSet presAssocID="{C4174E58-9B9A-4099-B26E-EDEB0ADE92CF}" presName="bgRect" presStyleLbl="bgShp" presStyleIdx="4" presStyleCnt="7"/>
      <dgm:spPr/>
    </dgm:pt>
    <dgm:pt modelId="{2782E18B-9717-4B9C-96A3-97562B5347DA}" type="pres">
      <dgm:prSet presAssocID="{C4174E58-9B9A-4099-B26E-EDEB0ADE92CF}" presName="iconRect" presStyleLbl="node1" presStyleIdx="4" presStyleCnt="7"/>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Windy with solid fill"/>
        </a:ext>
      </dgm:extLst>
    </dgm:pt>
    <dgm:pt modelId="{4CFBD50C-8477-4494-B7E9-B43E6E119596}" type="pres">
      <dgm:prSet presAssocID="{C4174E58-9B9A-4099-B26E-EDEB0ADE92CF}" presName="spaceRect" presStyleCnt="0"/>
      <dgm:spPr/>
    </dgm:pt>
    <dgm:pt modelId="{155695EA-4589-4F31-9619-65F3376E5991}" type="pres">
      <dgm:prSet presAssocID="{C4174E58-9B9A-4099-B26E-EDEB0ADE92CF}" presName="parTx" presStyleLbl="revTx" presStyleIdx="4" presStyleCnt="7">
        <dgm:presLayoutVars>
          <dgm:chMax val="0"/>
          <dgm:chPref val="0"/>
        </dgm:presLayoutVars>
      </dgm:prSet>
      <dgm:spPr/>
    </dgm:pt>
    <dgm:pt modelId="{61391597-889D-4E7D-B391-F67F4A95FE78}" type="pres">
      <dgm:prSet presAssocID="{8D29CA48-9980-47AA-BE53-82509DD644D1}" presName="sibTrans" presStyleCnt="0"/>
      <dgm:spPr/>
    </dgm:pt>
    <dgm:pt modelId="{2FB4901B-998E-479C-9C71-AB785E9C20AB}" type="pres">
      <dgm:prSet presAssocID="{09801888-6B47-46AE-B871-92C052B8A9A2}" presName="compNode" presStyleCnt="0"/>
      <dgm:spPr/>
    </dgm:pt>
    <dgm:pt modelId="{8989F8A8-3633-4688-9ADB-3C1F37FB0B52}" type="pres">
      <dgm:prSet presAssocID="{09801888-6B47-46AE-B871-92C052B8A9A2}" presName="bgRect" presStyleLbl="bgShp" presStyleIdx="5" presStyleCnt="7"/>
      <dgm:spPr/>
    </dgm:pt>
    <dgm:pt modelId="{CF558AE8-41DB-4BFC-86F9-D96479F968A1}" type="pres">
      <dgm:prSet presAssocID="{09801888-6B47-46AE-B871-92C052B8A9A2}"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Error"/>
        </a:ext>
      </dgm:extLst>
    </dgm:pt>
    <dgm:pt modelId="{210FC59E-AA6B-4D0F-8F5E-3B3FE57031B6}" type="pres">
      <dgm:prSet presAssocID="{09801888-6B47-46AE-B871-92C052B8A9A2}" presName="spaceRect" presStyleCnt="0"/>
      <dgm:spPr/>
    </dgm:pt>
    <dgm:pt modelId="{BC067C0B-9367-4BFC-9973-52883EC13FE4}" type="pres">
      <dgm:prSet presAssocID="{09801888-6B47-46AE-B871-92C052B8A9A2}" presName="parTx" presStyleLbl="revTx" presStyleIdx="5" presStyleCnt="7">
        <dgm:presLayoutVars>
          <dgm:chMax val="0"/>
          <dgm:chPref val="0"/>
        </dgm:presLayoutVars>
      </dgm:prSet>
      <dgm:spPr/>
    </dgm:pt>
    <dgm:pt modelId="{F4BF5F59-17D3-493B-A13E-B16C1DC0CF9D}" type="pres">
      <dgm:prSet presAssocID="{321C3E1F-7B99-436E-B4FC-15D00620E6C2}" presName="sibTrans" presStyleCnt="0"/>
      <dgm:spPr/>
    </dgm:pt>
    <dgm:pt modelId="{ABABA4AC-5DAB-49E0-8230-E29BD48C83E4}" type="pres">
      <dgm:prSet presAssocID="{6E6C821F-5E52-468D-A1C4-1BE754D1A88D}" presName="compNode" presStyleCnt="0"/>
      <dgm:spPr/>
    </dgm:pt>
    <dgm:pt modelId="{AC1671B0-DA96-43EB-AA51-D18BAF7E0E50}" type="pres">
      <dgm:prSet presAssocID="{6E6C821F-5E52-468D-A1C4-1BE754D1A88D}" presName="bgRect" presStyleLbl="bgShp" presStyleIdx="6" presStyleCnt="7"/>
      <dgm:spPr/>
    </dgm:pt>
    <dgm:pt modelId="{76997DC0-8F45-46E8-A9F6-A3FCAA5444AD}" type="pres">
      <dgm:prSet presAssocID="{6E6C821F-5E52-468D-A1C4-1BE754D1A88D}"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Open Enrollment"/>
        </a:ext>
      </dgm:extLst>
    </dgm:pt>
    <dgm:pt modelId="{4489BD72-F9ED-4E62-8FBB-B180C2F869C3}" type="pres">
      <dgm:prSet presAssocID="{6E6C821F-5E52-468D-A1C4-1BE754D1A88D}" presName="spaceRect" presStyleCnt="0"/>
      <dgm:spPr/>
    </dgm:pt>
    <dgm:pt modelId="{82D35BFB-23A3-4247-AE64-EADF8A5070C0}" type="pres">
      <dgm:prSet presAssocID="{6E6C821F-5E52-468D-A1C4-1BE754D1A88D}" presName="parTx" presStyleLbl="revTx" presStyleIdx="6" presStyleCnt="7">
        <dgm:presLayoutVars>
          <dgm:chMax val="0"/>
          <dgm:chPref val="0"/>
        </dgm:presLayoutVars>
      </dgm:prSet>
      <dgm:spPr/>
    </dgm:pt>
  </dgm:ptLst>
  <dgm:cxnLst>
    <dgm:cxn modelId="{8209A209-720C-4420-A07F-239021962399}" type="presOf" srcId="{C2E9D271-6237-4937-9BE2-88FC576FC67E}" destId="{2E73CC89-8E6A-4287-8074-07911EBF5C38}" srcOrd="0" destOrd="0" presId="urn:microsoft.com/office/officeart/2018/2/layout/IconVerticalSolidList"/>
    <dgm:cxn modelId="{92FFDB1D-78F4-4193-BD97-5D6001E35AF8}" type="presOf" srcId="{38860F46-4E51-423B-912B-5F8BD5AA637C}" destId="{347E1523-7B70-412D-92D2-00CC15424A40}" srcOrd="0" destOrd="0" presId="urn:microsoft.com/office/officeart/2018/2/layout/IconVerticalSolidList"/>
    <dgm:cxn modelId="{FD2A6D26-737A-4DEF-A2C9-AEF25662E38E}" srcId="{C2E9D271-6237-4937-9BE2-88FC576FC67E}" destId="{12D7A860-4BB2-4625-AACB-899A3A96EBE1}" srcOrd="2" destOrd="0" parTransId="{3218B3CD-32AC-481D-8EFB-4E0987BA7E4A}" sibTransId="{057D064B-2F9B-4F16-9F73-F0F97A036063}"/>
    <dgm:cxn modelId="{3E666028-C110-4CAF-8F9C-7C95159FE357}" type="presOf" srcId="{C4174E58-9B9A-4099-B26E-EDEB0ADE92CF}" destId="{155695EA-4589-4F31-9619-65F3376E5991}" srcOrd="0" destOrd="0" presId="urn:microsoft.com/office/officeart/2018/2/layout/IconVerticalSolidList"/>
    <dgm:cxn modelId="{5E6DE129-4A48-482A-AC66-F76FDF2E9168}" srcId="{C2E9D271-6237-4937-9BE2-88FC576FC67E}" destId="{8B1C7037-84A6-496E-AB48-C2497C007DFC}" srcOrd="1" destOrd="0" parTransId="{91CEE25D-B837-46AC-84C1-5337167428A4}" sibTransId="{51244070-41C6-4C98-8AF6-512E28D3FDFE}"/>
    <dgm:cxn modelId="{B00C7276-3402-499C-9218-8F7886C61185}" type="presOf" srcId="{79BBD028-6AA4-4BBA-A99B-9E1EC5C93982}" destId="{E605184A-61E6-4488-B924-7ABBC68B155F}" srcOrd="0" destOrd="0" presId="urn:microsoft.com/office/officeart/2018/2/layout/IconVerticalSolidList"/>
    <dgm:cxn modelId="{F8942182-7436-49D9-AE21-663320FA5FDE}" srcId="{C2E9D271-6237-4937-9BE2-88FC576FC67E}" destId="{C4174E58-9B9A-4099-B26E-EDEB0ADE92CF}" srcOrd="4" destOrd="0" parTransId="{6FD85ED1-42DF-4BBA-BC59-4AC8AFB87FFF}" sibTransId="{8D29CA48-9980-47AA-BE53-82509DD644D1}"/>
    <dgm:cxn modelId="{7BBEC782-41EC-47B6-AF59-678AC034576C}" type="presOf" srcId="{09801888-6B47-46AE-B871-92C052B8A9A2}" destId="{BC067C0B-9367-4BFC-9973-52883EC13FE4}" srcOrd="0" destOrd="0" presId="urn:microsoft.com/office/officeart/2018/2/layout/IconVerticalSolidList"/>
    <dgm:cxn modelId="{F2719395-A1AE-4AF3-9F07-2E8B4485D557}" type="presOf" srcId="{8B1C7037-84A6-496E-AB48-C2497C007DFC}" destId="{47CC9DBE-1143-4272-812C-661735808F7F}" srcOrd="0" destOrd="0" presId="urn:microsoft.com/office/officeart/2018/2/layout/IconVerticalSolidList"/>
    <dgm:cxn modelId="{5F943D96-67CA-49C8-BBAB-02308E49EB7C}" type="presOf" srcId="{6E6C821F-5E52-468D-A1C4-1BE754D1A88D}" destId="{82D35BFB-23A3-4247-AE64-EADF8A5070C0}" srcOrd="0" destOrd="0" presId="urn:microsoft.com/office/officeart/2018/2/layout/IconVerticalSolidList"/>
    <dgm:cxn modelId="{8D88B8B9-50ED-4810-82D4-0DCBA8AC321E}" srcId="{C2E9D271-6237-4937-9BE2-88FC576FC67E}" destId="{79BBD028-6AA4-4BBA-A99B-9E1EC5C93982}" srcOrd="3" destOrd="0" parTransId="{1C19E985-20BF-4E59-8D55-C5D685D0C154}" sibTransId="{756D01B8-AAB1-45AA-AFCA-E7E47EFB9D5F}"/>
    <dgm:cxn modelId="{605E43D6-7EFE-480B-AA63-F999C35B8997}" srcId="{C2E9D271-6237-4937-9BE2-88FC576FC67E}" destId="{38860F46-4E51-423B-912B-5F8BD5AA637C}" srcOrd="0" destOrd="0" parTransId="{2D502A36-A806-4D3D-83E9-EFE453C9B412}" sibTransId="{FB737956-0942-4B6A-AC1E-DD2617DC35F1}"/>
    <dgm:cxn modelId="{CF2B2FF0-0B92-44D9-BEF9-E4FAC48B5E97}" type="presOf" srcId="{12D7A860-4BB2-4625-AACB-899A3A96EBE1}" destId="{4BCA94D9-E6E6-413E-8CF7-7D6F7601FF14}" srcOrd="0" destOrd="0" presId="urn:microsoft.com/office/officeart/2018/2/layout/IconVerticalSolidList"/>
    <dgm:cxn modelId="{C19969F9-A90A-4892-AFB8-EAAA40A815DA}" srcId="{C2E9D271-6237-4937-9BE2-88FC576FC67E}" destId="{09801888-6B47-46AE-B871-92C052B8A9A2}" srcOrd="5" destOrd="0" parTransId="{EEFAA2E3-FFA2-4B04-A86F-00118F071E33}" sibTransId="{321C3E1F-7B99-436E-B4FC-15D00620E6C2}"/>
    <dgm:cxn modelId="{AD7550FF-B50D-4F54-AC76-0256D93A0301}" srcId="{C2E9D271-6237-4937-9BE2-88FC576FC67E}" destId="{6E6C821F-5E52-468D-A1C4-1BE754D1A88D}" srcOrd="6" destOrd="0" parTransId="{4A0B81C3-FEB4-4D4D-8C7B-6A5E4E959FD5}" sibTransId="{CE813EC9-2965-40E2-BEAC-32B40E3C358F}"/>
    <dgm:cxn modelId="{E6FB0550-4B97-4B79-8E80-7171B754A9F7}" type="presParOf" srcId="{2E73CC89-8E6A-4287-8074-07911EBF5C38}" destId="{A6FB760E-AAA9-4A1A-B075-46D7E5EFD470}" srcOrd="0" destOrd="0" presId="urn:microsoft.com/office/officeart/2018/2/layout/IconVerticalSolidList"/>
    <dgm:cxn modelId="{F0B1D29F-A76F-4F5D-9778-580F011F86A7}" type="presParOf" srcId="{A6FB760E-AAA9-4A1A-B075-46D7E5EFD470}" destId="{70061250-0F73-4A0A-8442-438709400B12}" srcOrd="0" destOrd="0" presId="urn:microsoft.com/office/officeart/2018/2/layout/IconVerticalSolidList"/>
    <dgm:cxn modelId="{075FD516-A768-4FAE-B768-33275515AB4D}" type="presParOf" srcId="{A6FB760E-AAA9-4A1A-B075-46D7E5EFD470}" destId="{84AB902E-4FCB-45ED-B327-79640CB62305}" srcOrd="1" destOrd="0" presId="urn:microsoft.com/office/officeart/2018/2/layout/IconVerticalSolidList"/>
    <dgm:cxn modelId="{DEAA22F4-73DA-498D-BD81-7417A26812AB}" type="presParOf" srcId="{A6FB760E-AAA9-4A1A-B075-46D7E5EFD470}" destId="{8F5AF1AF-B6F3-4912-A5C0-5C4D62943348}" srcOrd="2" destOrd="0" presId="urn:microsoft.com/office/officeart/2018/2/layout/IconVerticalSolidList"/>
    <dgm:cxn modelId="{D7A937C3-F709-4079-9845-0B6187A4B166}" type="presParOf" srcId="{A6FB760E-AAA9-4A1A-B075-46D7E5EFD470}" destId="{347E1523-7B70-412D-92D2-00CC15424A40}" srcOrd="3" destOrd="0" presId="urn:microsoft.com/office/officeart/2018/2/layout/IconVerticalSolidList"/>
    <dgm:cxn modelId="{CCC042C3-8C09-4832-BBA9-6F9E5D78BE60}" type="presParOf" srcId="{2E73CC89-8E6A-4287-8074-07911EBF5C38}" destId="{301551D6-8AED-4A57-A6A2-026058F934CC}" srcOrd="1" destOrd="0" presId="urn:microsoft.com/office/officeart/2018/2/layout/IconVerticalSolidList"/>
    <dgm:cxn modelId="{17F3C66A-D246-44AF-A7BE-7B980A9509D9}" type="presParOf" srcId="{2E73CC89-8E6A-4287-8074-07911EBF5C38}" destId="{65D2D1F8-2B85-4503-8A97-C5890F3B9032}" srcOrd="2" destOrd="0" presId="urn:microsoft.com/office/officeart/2018/2/layout/IconVerticalSolidList"/>
    <dgm:cxn modelId="{BC4F153F-EEE9-4EC6-BE84-5E7C6245FAB1}" type="presParOf" srcId="{65D2D1F8-2B85-4503-8A97-C5890F3B9032}" destId="{A0E2A94C-0217-4058-8FF6-281422C6FE38}" srcOrd="0" destOrd="0" presId="urn:microsoft.com/office/officeart/2018/2/layout/IconVerticalSolidList"/>
    <dgm:cxn modelId="{F11E5715-6312-4555-8BD6-34CCA5151302}" type="presParOf" srcId="{65D2D1F8-2B85-4503-8A97-C5890F3B9032}" destId="{64FA4CE4-58A0-49CF-BB2E-817F60F97D6A}" srcOrd="1" destOrd="0" presId="urn:microsoft.com/office/officeart/2018/2/layout/IconVerticalSolidList"/>
    <dgm:cxn modelId="{7FA16E1D-BC2B-4FCF-BD92-18EB28E494CD}" type="presParOf" srcId="{65D2D1F8-2B85-4503-8A97-C5890F3B9032}" destId="{1F01BC96-7F02-4E0D-8624-F1598263DC15}" srcOrd="2" destOrd="0" presId="urn:microsoft.com/office/officeart/2018/2/layout/IconVerticalSolidList"/>
    <dgm:cxn modelId="{96CD322D-0156-4B03-A649-BE9B3F7065EF}" type="presParOf" srcId="{65D2D1F8-2B85-4503-8A97-C5890F3B9032}" destId="{47CC9DBE-1143-4272-812C-661735808F7F}" srcOrd="3" destOrd="0" presId="urn:microsoft.com/office/officeart/2018/2/layout/IconVerticalSolidList"/>
    <dgm:cxn modelId="{301FE72E-9F78-4053-BE89-C5339CC1D7AE}" type="presParOf" srcId="{2E73CC89-8E6A-4287-8074-07911EBF5C38}" destId="{EBB0DC27-3B0C-4D8A-B2D1-2758A0783379}" srcOrd="3" destOrd="0" presId="urn:microsoft.com/office/officeart/2018/2/layout/IconVerticalSolidList"/>
    <dgm:cxn modelId="{A17B0096-D489-4C2D-AB0D-A70FF8A5FF69}" type="presParOf" srcId="{2E73CC89-8E6A-4287-8074-07911EBF5C38}" destId="{07157C6E-51E3-45D9-8F0B-CCC4DC5C2838}" srcOrd="4" destOrd="0" presId="urn:microsoft.com/office/officeart/2018/2/layout/IconVerticalSolidList"/>
    <dgm:cxn modelId="{6B719600-33FA-49F2-B619-FD7B3840232F}" type="presParOf" srcId="{07157C6E-51E3-45D9-8F0B-CCC4DC5C2838}" destId="{4C06B58D-C46A-4140-8431-6029CC7FD3F7}" srcOrd="0" destOrd="0" presId="urn:microsoft.com/office/officeart/2018/2/layout/IconVerticalSolidList"/>
    <dgm:cxn modelId="{6E7A7791-B2C6-4E8A-B4EC-F02B9AD226B3}" type="presParOf" srcId="{07157C6E-51E3-45D9-8F0B-CCC4DC5C2838}" destId="{C96B8F0E-C59F-40D0-BA1D-44CCE55F5217}" srcOrd="1" destOrd="0" presId="urn:microsoft.com/office/officeart/2018/2/layout/IconVerticalSolidList"/>
    <dgm:cxn modelId="{B53F193D-BEB8-40BC-AE30-D1FBF69B90AF}" type="presParOf" srcId="{07157C6E-51E3-45D9-8F0B-CCC4DC5C2838}" destId="{41A54E3B-0F8C-40E3-BA2C-751554794E53}" srcOrd="2" destOrd="0" presId="urn:microsoft.com/office/officeart/2018/2/layout/IconVerticalSolidList"/>
    <dgm:cxn modelId="{12F1E062-9E06-4C45-B86B-D55AA19A5442}" type="presParOf" srcId="{07157C6E-51E3-45D9-8F0B-CCC4DC5C2838}" destId="{4BCA94D9-E6E6-413E-8CF7-7D6F7601FF14}" srcOrd="3" destOrd="0" presId="urn:microsoft.com/office/officeart/2018/2/layout/IconVerticalSolidList"/>
    <dgm:cxn modelId="{C6D7FECB-041E-465B-BE66-6B25E6B335DE}" type="presParOf" srcId="{2E73CC89-8E6A-4287-8074-07911EBF5C38}" destId="{A6A1AF55-8B5F-44F6-94DD-568D277F49FE}" srcOrd="5" destOrd="0" presId="urn:microsoft.com/office/officeart/2018/2/layout/IconVerticalSolidList"/>
    <dgm:cxn modelId="{FE7AECB7-2058-4B59-A149-B06243E11D0D}" type="presParOf" srcId="{2E73CC89-8E6A-4287-8074-07911EBF5C38}" destId="{6E26D1A2-FFE3-4627-B60B-2BD9DD43E36C}" srcOrd="6" destOrd="0" presId="urn:microsoft.com/office/officeart/2018/2/layout/IconVerticalSolidList"/>
    <dgm:cxn modelId="{7861DDF0-9FF2-44F1-8421-A94769DF264D}" type="presParOf" srcId="{6E26D1A2-FFE3-4627-B60B-2BD9DD43E36C}" destId="{73AA6DE6-65F9-4B5D-B38E-B39C3DAC981B}" srcOrd="0" destOrd="0" presId="urn:microsoft.com/office/officeart/2018/2/layout/IconVerticalSolidList"/>
    <dgm:cxn modelId="{20F32650-87F0-46FB-9E6E-0F36D787F4C5}" type="presParOf" srcId="{6E26D1A2-FFE3-4627-B60B-2BD9DD43E36C}" destId="{BE5812A3-A8CC-4727-8779-5FF17007A120}" srcOrd="1" destOrd="0" presId="urn:microsoft.com/office/officeart/2018/2/layout/IconVerticalSolidList"/>
    <dgm:cxn modelId="{7E456399-AA21-444B-A988-ED605642F124}" type="presParOf" srcId="{6E26D1A2-FFE3-4627-B60B-2BD9DD43E36C}" destId="{E4A615FD-54F4-4F48-9793-31C6873F1B37}" srcOrd="2" destOrd="0" presId="urn:microsoft.com/office/officeart/2018/2/layout/IconVerticalSolidList"/>
    <dgm:cxn modelId="{3839B9D0-2E15-4609-91FF-088AEED0B417}" type="presParOf" srcId="{6E26D1A2-FFE3-4627-B60B-2BD9DD43E36C}" destId="{E605184A-61E6-4488-B924-7ABBC68B155F}" srcOrd="3" destOrd="0" presId="urn:microsoft.com/office/officeart/2018/2/layout/IconVerticalSolidList"/>
    <dgm:cxn modelId="{640630D7-0D6B-4FE7-8822-59B3C67BF7F5}" type="presParOf" srcId="{2E73CC89-8E6A-4287-8074-07911EBF5C38}" destId="{1ECBD170-8151-43FD-A262-4CDC32C6BEA9}" srcOrd="7" destOrd="0" presId="urn:microsoft.com/office/officeart/2018/2/layout/IconVerticalSolidList"/>
    <dgm:cxn modelId="{3CED2194-9FDF-4FE4-B939-71DB71F3BB99}" type="presParOf" srcId="{2E73CC89-8E6A-4287-8074-07911EBF5C38}" destId="{3BBBE703-D7F4-4E02-BD29-23E7B9DF92AA}" srcOrd="8" destOrd="0" presId="urn:microsoft.com/office/officeart/2018/2/layout/IconVerticalSolidList"/>
    <dgm:cxn modelId="{B53618B9-790A-4920-836E-431D03981A83}" type="presParOf" srcId="{3BBBE703-D7F4-4E02-BD29-23E7B9DF92AA}" destId="{4B16FCD5-0FB6-489A-8558-8C04F8CFA213}" srcOrd="0" destOrd="0" presId="urn:microsoft.com/office/officeart/2018/2/layout/IconVerticalSolidList"/>
    <dgm:cxn modelId="{D3B5BAD9-5159-4FCA-AC81-147C380F9F8C}" type="presParOf" srcId="{3BBBE703-D7F4-4E02-BD29-23E7B9DF92AA}" destId="{2782E18B-9717-4B9C-96A3-97562B5347DA}" srcOrd="1" destOrd="0" presId="urn:microsoft.com/office/officeart/2018/2/layout/IconVerticalSolidList"/>
    <dgm:cxn modelId="{A075BA42-1A57-4493-9DE6-7A20C7A3E330}" type="presParOf" srcId="{3BBBE703-D7F4-4E02-BD29-23E7B9DF92AA}" destId="{4CFBD50C-8477-4494-B7E9-B43E6E119596}" srcOrd="2" destOrd="0" presId="urn:microsoft.com/office/officeart/2018/2/layout/IconVerticalSolidList"/>
    <dgm:cxn modelId="{81043F23-7C21-46F2-BD72-950417175B85}" type="presParOf" srcId="{3BBBE703-D7F4-4E02-BD29-23E7B9DF92AA}" destId="{155695EA-4589-4F31-9619-65F3376E5991}" srcOrd="3" destOrd="0" presId="urn:microsoft.com/office/officeart/2018/2/layout/IconVerticalSolidList"/>
    <dgm:cxn modelId="{CDB557E6-A663-4431-8E35-C5B7A8EEB10E}" type="presParOf" srcId="{2E73CC89-8E6A-4287-8074-07911EBF5C38}" destId="{61391597-889D-4E7D-B391-F67F4A95FE78}" srcOrd="9" destOrd="0" presId="urn:microsoft.com/office/officeart/2018/2/layout/IconVerticalSolidList"/>
    <dgm:cxn modelId="{21C1E637-9C31-4C16-B7C5-F72DD711C223}" type="presParOf" srcId="{2E73CC89-8E6A-4287-8074-07911EBF5C38}" destId="{2FB4901B-998E-479C-9C71-AB785E9C20AB}" srcOrd="10" destOrd="0" presId="urn:microsoft.com/office/officeart/2018/2/layout/IconVerticalSolidList"/>
    <dgm:cxn modelId="{B868227E-125B-46C6-A776-55A9866ECDC9}" type="presParOf" srcId="{2FB4901B-998E-479C-9C71-AB785E9C20AB}" destId="{8989F8A8-3633-4688-9ADB-3C1F37FB0B52}" srcOrd="0" destOrd="0" presId="urn:microsoft.com/office/officeart/2018/2/layout/IconVerticalSolidList"/>
    <dgm:cxn modelId="{E5AC370E-507B-4CFC-B3DB-295837A14631}" type="presParOf" srcId="{2FB4901B-998E-479C-9C71-AB785E9C20AB}" destId="{CF558AE8-41DB-4BFC-86F9-D96479F968A1}" srcOrd="1" destOrd="0" presId="urn:microsoft.com/office/officeart/2018/2/layout/IconVerticalSolidList"/>
    <dgm:cxn modelId="{BC3BD42E-057F-4A34-A2E7-D7AF459960E7}" type="presParOf" srcId="{2FB4901B-998E-479C-9C71-AB785E9C20AB}" destId="{210FC59E-AA6B-4D0F-8F5E-3B3FE57031B6}" srcOrd="2" destOrd="0" presId="urn:microsoft.com/office/officeart/2018/2/layout/IconVerticalSolidList"/>
    <dgm:cxn modelId="{A3A683FB-224C-4B21-B63E-E41402417309}" type="presParOf" srcId="{2FB4901B-998E-479C-9C71-AB785E9C20AB}" destId="{BC067C0B-9367-4BFC-9973-52883EC13FE4}" srcOrd="3" destOrd="0" presId="urn:microsoft.com/office/officeart/2018/2/layout/IconVerticalSolidList"/>
    <dgm:cxn modelId="{F86CC338-972E-40F7-9F23-8733FD7A08CC}" type="presParOf" srcId="{2E73CC89-8E6A-4287-8074-07911EBF5C38}" destId="{F4BF5F59-17D3-493B-A13E-B16C1DC0CF9D}" srcOrd="11" destOrd="0" presId="urn:microsoft.com/office/officeart/2018/2/layout/IconVerticalSolidList"/>
    <dgm:cxn modelId="{8C99F6B9-EB15-4764-86F6-A6F6EBAF623D}" type="presParOf" srcId="{2E73CC89-8E6A-4287-8074-07911EBF5C38}" destId="{ABABA4AC-5DAB-49E0-8230-E29BD48C83E4}" srcOrd="12" destOrd="0" presId="urn:microsoft.com/office/officeart/2018/2/layout/IconVerticalSolidList"/>
    <dgm:cxn modelId="{40DE7F73-6942-4CEF-8790-A1228B2BD1E8}" type="presParOf" srcId="{ABABA4AC-5DAB-49E0-8230-E29BD48C83E4}" destId="{AC1671B0-DA96-43EB-AA51-D18BAF7E0E50}" srcOrd="0" destOrd="0" presId="urn:microsoft.com/office/officeart/2018/2/layout/IconVerticalSolidList"/>
    <dgm:cxn modelId="{B96277ED-00B8-401E-BD35-7677C3B9B639}" type="presParOf" srcId="{ABABA4AC-5DAB-49E0-8230-E29BD48C83E4}" destId="{76997DC0-8F45-46E8-A9F6-A3FCAA5444AD}" srcOrd="1" destOrd="0" presId="urn:microsoft.com/office/officeart/2018/2/layout/IconVerticalSolidList"/>
    <dgm:cxn modelId="{C89B4F6B-4048-43CD-9B51-6FEE2CFF81A2}" type="presParOf" srcId="{ABABA4AC-5DAB-49E0-8230-E29BD48C83E4}" destId="{4489BD72-F9ED-4E62-8FBB-B180C2F869C3}" srcOrd="2" destOrd="0" presId="urn:microsoft.com/office/officeart/2018/2/layout/IconVerticalSolidList"/>
    <dgm:cxn modelId="{A7290EC5-1CB4-4485-9023-D16A7C72069A}" type="presParOf" srcId="{ABABA4AC-5DAB-49E0-8230-E29BD48C83E4}" destId="{82D35BFB-23A3-4247-AE64-EADF8A5070C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061250-0F73-4A0A-8442-438709400B12}">
      <dsp:nvSpPr>
        <dsp:cNvPr id="0" name=""/>
        <dsp:cNvSpPr/>
      </dsp:nvSpPr>
      <dsp:spPr>
        <a:xfrm>
          <a:off x="0" y="0"/>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84AB902E-4FCB-45ED-B327-79640CB62305}">
      <dsp:nvSpPr>
        <dsp:cNvPr id="0" name=""/>
        <dsp:cNvSpPr/>
      </dsp:nvSpPr>
      <dsp:spPr>
        <a:xfrm>
          <a:off x="190914" y="142461"/>
          <a:ext cx="347117" cy="34711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347E1523-7B70-412D-92D2-00CC15424A40}">
      <dsp:nvSpPr>
        <dsp:cNvPr id="0" name=""/>
        <dsp:cNvSpPr/>
      </dsp:nvSpPr>
      <dsp:spPr>
        <a:xfrm>
          <a:off x="728947" y="458"/>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Introduction</a:t>
          </a:r>
        </a:p>
      </dsp:txBody>
      <dsp:txXfrm>
        <a:off x="728947" y="458"/>
        <a:ext cx="9360926" cy="631123"/>
      </dsp:txXfrm>
    </dsp:sp>
    <dsp:sp modelId="{A0E2A94C-0217-4058-8FF6-281422C6FE38}">
      <dsp:nvSpPr>
        <dsp:cNvPr id="0" name=""/>
        <dsp:cNvSpPr/>
      </dsp:nvSpPr>
      <dsp:spPr>
        <a:xfrm>
          <a:off x="0" y="789362"/>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64FA4CE4-58A0-49CF-BB2E-817F60F97D6A}">
      <dsp:nvSpPr>
        <dsp:cNvPr id="0" name=""/>
        <dsp:cNvSpPr/>
      </dsp:nvSpPr>
      <dsp:spPr>
        <a:xfrm>
          <a:off x="190914" y="931365"/>
          <a:ext cx="347117" cy="34711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7CC9DBE-1143-4272-812C-661735808F7F}">
      <dsp:nvSpPr>
        <dsp:cNvPr id="0" name=""/>
        <dsp:cNvSpPr/>
      </dsp:nvSpPr>
      <dsp:spPr>
        <a:xfrm>
          <a:off x="728947" y="789362"/>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Common Motor Failures	</a:t>
          </a:r>
        </a:p>
      </dsp:txBody>
      <dsp:txXfrm>
        <a:off x="728947" y="789362"/>
        <a:ext cx="9360926" cy="631123"/>
      </dsp:txXfrm>
    </dsp:sp>
    <dsp:sp modelId="{4C06B58D-C46A-4140-8431-6029CC7FD3F7}">
      <dsp:nvSpPr>
        <dsp:cNvPr id="0" name=""/>
        <dsp:cNvSpPr/>
      </dsp:nvSpPr>
      <dsp:spPr>
        <a:xfrm>
          <a:off x="0" y="1578266"/>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C96B8F0E-C59F-40D0-BA1D-44CCE55F5217}">
      <dsp:nvSpPr>
        <dsp:cNvPr id="0" name=""/>
        <dsp:cNvSpPr/>
      </dsp:nvSpPr>
      <dsp:spPr>
        <a:xfrm>
          <a:off x="190914" y="1720269"/>
          <a:ext cx="347117" cy="347117"/>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4BCA94D9-E6E6-413E-8CF7-7D6F7601FF14}">
      <dsp:nvSpPr>
        <dsp:cNvPr id="0" name=""/>
        <dsp:cNvSpPr/>
      </dsp:nvSpPr>
      <dsp:spPr>
        <a:xfrm>
          <a:off x="728947" y="1578266"/>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Common Bearing Failures</a:t>
          </a:r>
        </a:p>
      </dsp:txBody>
      <dsp:txXfrm>
        <a:off x="728947" y="1578266"/>
        <a:ext cx="9360926" cy="631123"/>
      </dsp:txXfrm>
    </dsp:sp>
    <dsp:sp modelId="{73AA6DE6-65F9-4B5D-B38E-B39C3DAC981B}">
      <dsp:nvSpPr>
        <dsp:cNvPr id="0" name=""/>
        <dsp:cNvSpPr/>
      </dsp:nvSpPr>
      <dsp:spPr>
        <a:xfrm>
          <a:off x="0" y="2367170"/>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BE5812A3-A8CC-4727-8779-5FF17007A120}">
      <dsp:nvSpPr>
        <dsp:cNvPr id="0" name=""/>
        <dsp:cNvSpPr/>
      </dsp:nvSpPr>
      <dsp:spPr>
        <a:xfrm>
          <a:off x="190914" y="2509173"/>
          <a:ext cx="347117" cy="347117"/>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E605184A-61E6-4488-B924-7ABBC68B155F}">
      <dsp:nvSpPr>
        <dsp:cNvPr id="0" name=""/>
        <dsp:cNvSpPr/>
      </dsp:nvSpPr>
      <dsp:spPr>
        <a:xfrm>
          <a:off x="728947" y="2367170"/>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Lubrication Composition</a:t>
          </a:r>
        </a:p>
      </dsp:txBody>
      <dsp:txXfrm>
        <a:off x="728947" y="2367170"/>
        <a:ext cx="9360926" cy="631123"/>
      </dsp:txXfrm>
    </dsp:sp>
    <dsp:sp modelId="{4B16FCD5-0FB6-489A-8558-8C04F8CFA213}">
      <dsp:nvSpPr>
        <dsp:cNvPr id="0" name=""/>
        <dsp:cNvSpPr/>
      </dsp:nvSpPr>
      <dsp:spPr>
        <a:xfrm>
          <a:off x="0" y="3156074"/>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782E18B-9717-4B9C-96A3-97562B5347DA}">
      <dsp:nvSpPr>
        <dsp:cNvPr id="0" name=""/>
        <dsp:cNvSpPr/>
      </dsp:nvSpPr>
      <dsp:spPr>
        <a:xfrm>
          <a:off x="190914" y="3298077"/>
          <a:ext cx="347117" cy="347117"/>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155695EA-4589-4F31-9619-65F3376E5991}">
      <dsp:nvSpPr>
        <dsp:cNvPr id="0" name=""/>
        <dsp:cNvSpPr/>
      </dsp:nvSpPr>
      <dsp:spPr>
        <a:xfrm>
          <a:off x="728947" y="3156074"/>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Strategies For Improving MTBF		</a:t>
          </a:r>
        </a:p>
      </dsp:txBody>
      <dsp:txXfrm>
        <a:off x="728947" y="3156074"/>
        <a:ext cx="9360926" cy="631123"/>
      </dsp:txXfrm>
    </dsp:sp>
    <dsp:sp modelId="{8989F8A8-3633-4688-9ADB-3C1F37FB0B52}">
      <dsp:nvSpPr>
        <dsp:cNvPr id="0" name=""/>
        <dsp:cNvSpPr/>
      </dsp:nvSpPr>
      <dsp:spPr>
        <a:xfrm>
          <a:off x="0" y="3944978"/>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CF558AE8-41DB-4BFC-86F9-D96479F968A1}">
      <dsp:nvSpPr>
        <dsp:cNvPr id="0" name=""/>
        <dsp:cNvSpPr/>
      </dsp:nvSpPr>
      <dsp:spPr>
        <a:xfrm>
          <a:off x="190914" y="4086981"/>
          <a:ext cx="347117" cy="34711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C067C0B-9367-4BFC-9973-52883EC13FE4}">
      <dsp:nvSpPr>
        <dsp:cNvPr id="0" name=""/>
        <dsp:cNvSpPr/>
      </dsp:nvSpPr>
      <dsp:spPr>
        <a:xfrm>
          <a:off x="728947" y="3944978"/>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Times New Roman" panose="02020603050405020304" pitchFamily="18" charset="0"/>
              <a:cs typeface="Times New Roman" panose="02020603050405020304" pitchFamily="18" charset="0"/>
            </a:rPr>
            <a:t>Conclusion</a:t>
          </a:r>
        </a:p>
      </dsp:txBody>
      <dsp:txXfrm>
        <a:off x="728947" y="3944978"/>
        <a:ext cx="9360926" cy="631123"/>
      </dsp:txXfrm>
    </dsp:sp>
    <dsp:sp modelId="{AC1671B0-DA96-43EB-AA51-D18BAF7E0E50}">
      <dsp:nvSpPr>
        <dsp:cNvPr id="0" name=""/>
        <dsp:cNvSpPr/>
      </dsp:nvSpPr>
      <dsp:spPr>
        <a:xfrm>
          <a:off x="0" y="4733882"/>
          <a:ext cx="10089874" cy="63112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76997DC0-8F45-46E8-A9F6-A3FCAA5444AD}">
      <dsp:nvSpPr>
        <dsp:cNvPr id="0" name=""/>
        <dsp:cNvSpPr/>
      </dsp:nvSpPr>
      <dsp:spPr>
        <a:xfrm>
          <a:off x="190914" y="4875885"/>
          <a:ext cx="347117" cy="347117"/>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82D35BFB-23A3-4247-AE64-EADF8A5070C0}">
      <dsp:nvSpPr>
        <dsp:cNvPr id="0" name=""/>
        <dsp:cNvSpPr/>
      </dsp:nvSpPr>
      <dsp:spPr>
        <a:xfrm>
          <a:off x="728947" y="4733882"/>
          <a:ext cx="9360926" cy="6311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6794" tIns="66794" rIns="66794" bIns="66794" numCol="1" spcCol="1270" anchor="ctr" anchorCtr="0">
          <a:noAutofit/>
        </a:bodyPr>
        <a:lstStyle/>
        <a:p>
          <a:pPr marL="0" lvl="0" indent="0" algn="l" defTabSz="711200">
            <a:lnSpc>
              <a:spcPct val="100000"/>
            </a:lnSpc>
            <a:spcBef>
              <a:spcPct val="0"/>
            </a:spcBef>
            <a:spcAft>
              <a:spcPct val="35000"/>
            </a:spcAft>
            <a:buNone/>
          </a:pPr>
          <a:r>
            <a:rPr lang="en-US" sz="1600" kern="1200" baseline="0" dirty="0">
              <a:latin typeface="Times New Roman" panose="02020603050405020304" pitchFamily="18" charset="0"/>
              <a:cs typeface="Times New Roman" panose="02020603050405020304" pitchFamily="18" charset="0"/>
            </a:rPr>
            <a:t>References</a:t>
          </a:r>
          <a:endParaRPr lang="en-US" sz="1600" kern="1200" dirty="0">
            <a:latin typeface="Times New Roman" panose="02020603050405020304" pitchFamily="18" charset="0"/>
            <a:cs typeface="Times New Roman" panose="02020603050405020304" pitchFamily="18" charset="0"/>
          </a:endParaRPr>
        </a:p>
      </dsp:txBody>
      <dsp:txXfrm>
        <a:off x="728947" y="4733882"/>
        <a:ext cx="9360926" cy="63112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1C3A06-8A2D-41FB-B209-96F00F9FF21D}"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5340DE-8815-411F-BE89-4346D330FF0C}" type="slidenum">
              <a:rPr lang="en-US" smtClean="0"/>
              <a:t>‹#›</a:t>
            </a:fld>
            <a:endParaRPr lang="en-US"/>
          </a:p>
        </p:txBody>
      </p:sp>
    </p:spTree>
    <p:extLst>
      <p:ext uri="{BB962C8B-B14F-4D97-AF65-F5344CB8AC3E}">
        <p14:creationId xmlns:p14="http://schemas.microsoft.com/office/powerpoint/2010/main" val="758111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78372-CF26-4FB4-9C50-2E0A56BD2188}"/>
              </a:ext>
            </a:extLst>
          </p:cNvPr>
          <p:cNvSpPr>
            <a:spLocks noGrp="1"/>
          </p:cNvSpPr>
          <p:nvPr>
            <p:ph type="ctrTitle"/>
          </p:nvPr>
        </p:nvSpPr>
        <p:spPr>
          <a:xfrm>
            <a:off x="1524000" y="1122363"/>
            <a:ext cx="9144000" cy="2387600"/>
          </a:xfrm>
        </p:spPr>
        <p:txBody>
          <a:bodyPr anchor="b">
            <a:normAutofit/>
          </a:bodyPr>
          <a:lstStyle>
            <a:lvl1pPr algn="ctr">
              <a:defRPr sz="4000">
                <a:latin typeface="Arial" panose="020B0604020202020204" pitchFamily="34" charset="0"/>
                <a:cs typeface="Arial" panose="020B060402020202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75F020DD-87D8-4ACA-BB88-D22750492477}"/>
              </a:ext>
            </a:extLst>
          </p:cNvPr>
          <p:cNvSpPr>
            <a:spLocks noGrp="1"/>
          </p:cNvSpPr>
          <p:nvPr>
            <p:ph type="subTitle" idx="1"/>
          </p:nvPr>
        </p:nvSpPr>
        <p:spPr>
          <a:xfrm>
            <a:off x="1524000" y="3602038"/>
            <a:ext cx="9144000" cy="1655762"/>
          </a:xfrm>
        </p:spPr>
        <p:txBody>
          <a:bodyPr/>
          <a:lstStyle>
            <a:lvl1pPr marL="0" indent="0" algn="ctr">
              <a:buNone/>
              <a:defRPr sz="2400">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A33BF5A3-4F1B-4A6C-81E7-F04217210F3C}"/>
              </a:ext>
            </a:extLst>
          </p:cNvPr>
          <p:cNvSpPr>
            <a:spLocks noGrp="1"/>
          </p:cNvSpPr>
          <p:nvPr>
            <p:ph type="dt" sz="half" idx="10"/>
          </p:nvPr>
        </p:nvSpPr>
        <p:spPr/>
        <p:txBody>
          <a:bodyPr/>
          <a:lstStyle/>
          <a:p>
            <a:fld id="{E08100C5-8407-4937-A8DB-4F504BDFD491}" type="datetime1">
              <a:rPr lang="en-US" smtClean="0"/>
              <a:t>11/9/2025</a:t>
            </a:fld>
            <a:endParaRPr lang="en-US"/>
          </a:p>
        </p:txBody>
      </p:sp>
      <p:sp>
        <p:nvSpPr>
          <p:cNvPr id="5" name="Footer Placeholder 4">
            <a:extLst>
              <a:ext uri="{FF2B5EF4-FFF2-40B4-BE49-F238E27FC236}">
                <a16:creationId xmlns:a16="http://schemas.microsoft.com/office/drawing/2014/main" id="{1B8B98A0-DCBC-4174-B5E9-606A5D5EC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273C9E-A23F-4403-A3EF-2E602B7FA766}"/>
              </a:ext>
            </a:extLst>
          </p:cNvPr>
          <p:cNvSpPr>
            <a:spLocks noGrp="1"/>
          </p:cNvSpPr>
          <p:nvPr>
            <p:ph type="sldNum" sz="quarter" idx="12"/>
          </p:nvPr>
        </p:nvSpPr>
        <p:spPr/>
        <p:txBody>
          <a:bodyPr/>
          <a:lstStyle/>
          <a:p>
            <a:fld id="{241BFB48-7771-40F1-A34B-9DBE21ACBAA3}" type="slidenum">
              <a:rPr lang="en-US" smtClean="0"/>
              <a:t>‹#›</a:t>
            </a:fld>
            <a:endParaRPr lang="en-US"/>
          </a:p>
        </p:txBody>
      </p:sp>
      <p:sp>
        <p:nvSpPr>
          <p:cNvPr id="8" name="Rectangle 7">
            <a:extLst>
              <a:ext uri="{FF2B5EF4-FFF2-40B4-BE49-F238E27FC236}">
                <a16:creationId xmlns:a16="http://schemas.microsoft.com/office/drawing/2014/main" id="{2C4F3CB3-FB4F-4390-A8FF-C4BA4EAF541C}"/>
              </a:ext>
            </a:extLst>
          </p:cNvPr>
          <p:cNvSpPr/>
          <p:nvPr userDrawn="1"/>
        </p:nvSpPr>
        <p:spPr>
          <a:xfrm>
            <a:off x="10219" y="6451884"/>
            <a:ext cx="12176673" cy="40611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577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734746-6A92-4B71-878C-500E8FED6C8F}"/>
              </a:ext>
            </a:extLst>
          </p:cNvPr>
          <p:cNvSpPr/>
          <p:nvPr userDrawn="1"/>
        </p:nvSpPr>
        <p:spPr>
          <a:xfrm>
            <a:off x="10219" y="6451884"/>
            <a:ext cx="12176673" cy="406116"/>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D5D570-7184-465C-8B9E-C93507FF4978}"/>
              </a:ext>
            </a:extLst>
          </p:cNvPr>
          <p:cNvSpPr>
            <a:spLocks noGrp="1"/>
          </p:cNvSpPr>
          <p:nvPr>
            <p:ph type="title"/>
          </p:nvPr>
        </p:nvSpPr>
        <p:spPr>
          <a:xfrm>
            <a:off x="838200" y="209444"/>
            <a:ext cx="10515600" cy="471593"/>
          </a:xfrm>
        </p:spPr>
        <p:txBody>
          <a:bodyPr>
            <a:noAutofit/>
          </a:bodyPr>
          <a:lstStyle>
            <a:lvl1pPr algn="ctr">
              <a:defRPr sz="3000">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64BD54E3-3829-45F1-A1AD-66AADDD13ACF}"/>
              </a:ext>
            </a:extLst>
          </p:cNvPr>
          <p:cNvSpPr>
            <a:spLocks noGrp="1"/>
          </p:cNvSpPr>
          <p:nvPr>
            <p:ph idx="1"/>
          </p:nvPr>
        </p:nvSpPr>
        <p:spPr>
          <a:xfrm>
            <a:off x="838200" y="750932"/>
            <a:ext cx="10515600" cy="558856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BEDD3D0-31A1-456C-AC58-A3E56E74EBC1}"/>
              </a:ext>
            </a:extLst>
          </p:cNvPr>
          <p:cNvSpPr>
            <a:spLocks noGrp="1"/>
          </p:cNvSpPr>
          <p:nvPr>
            <p:ph type="dt" sz="half" idx="10"/>
          </p:nvPr>
        </p:nvSpPr>
        <p:spPr>
          <a:xfrm>
            <a:off x="838200" y="6473845"/>
            <a:ext cx="2743200" cy="365125"/>
          </a:xfrm>
        </p:spPr>
        <p:txBody>
          <a:bodyPr/>
          <a:lstStyle/>
          <a:p>
            <a:fld id="{B85AA577-FD59-4996-8D22-9343A4FAA1B8}" type="datetime1">
              <a:rPr lang="en-US" smtClean="0"/>
              <a:t>11/9/2025</a:t>
            </a:fld>
            <a:endParaRPr lang="en-US"/>
          </a:p>
        </p:txBody>
      </p:sp>
      <p:sp>
        <p:nvSpPr>
          <p:cNvPr id="5" name="Footer Placeholder 4">
            <a:extLst>
              <a:ext uri="{FF2B5EF4-FFF2-40B4-BE49-F238E27FC236}">
                <a16:creationId xmlns:a16="http://schemas.microsoft.com/office/drawing/2014/main" id="{A947B827-8C09-44D3-A54F-3674CDC26C64}"/>
              </a:ext>
            </a:extLst>
          </p:cNvPr>
          <p:cNvSpPr>
            <a:spLocks noGrp="1"/>
          </p:cNvSpPr>
          <p:nvPr>
            <p:ph type="ftr" sz="quarter" idx="11"/>
          </p:nvPr>
        </p:nvSpPr>
        <p:spPr>
          <a:xfrm>
            <a:off x="4038600" y="6473845"/>
            <a:ext cx="4114800" cy="365125"/>
          </a:xfrm>
        </p:spPr>
        <p:txBody>
          <a:bodyPr/>
          <a:lstStyle/>
          <a:p>
            <a:endParaRPr lang="en-US"/>
          </a:p>
        </p:txBody>
      </p:sp>
      <p:sp>
        <p:nvSpPr>
          <p:cNvPr id="6" name="Slide Number Placeholder 5">
            <a:extLst>
              <a:ext uri="{FF2B5EF4-FFF2-40B4-BE49-F238E27FC236}">
                <a16:creationId xmlns:a16="http://schemas.microsoft.com/office/drawing/2014/main" id="{453369CE-7409-45BE-9DDE-FDE210838E83}"/>
              </a:ext>
            </a:extLst>
          </p:cNvPr>
          <p:cNvSpPr>
            <a:spLocks noGrp="1"/>
          </p:cNvSpPr>
          <p:nvPr>
            <p:ph type="sldNum" sz="quarter" idx="12"/>
          </p:nvPr>
        </p:nvSpPr>
        <p:spPr>
          <a:xfrm>
            <a:off x="9438150" y="6473845"/>
            <a:ext cx="2743200" cy="365125"/>
          </a:xfrm>
        </p:spPr>
        <p:txBody>
          <a:bodyPr/>
          <a:lstStyle>
            <a:lvl1pPr>
              <a:defRPr sz="1400">
                <a:solidFill>
                  <a:schemeClr val="tx1"/>
                </a:solidFill>
                <a:latin typeface="Arial" panose="020B0604020202020204" pitchFamily="34" charset="0"/>
                <a:cs typeface="Arial" panose="020B0604020202020204" pitchFamily="34" charset="0"/>
              </a:defRPr>
            </a:lvl1pPr>
          </a:lstStyle>
          <a:p>
            <a:fld id="{241BFB48-7771-40F1-A34B-9DBE21ACBAA3}" type="slidenum">
              <a:rPr lang="en-US" smtClean="0"/>
              <a:pPr/>
              <a:t>‹#›</a:t>
            </a:fld>
            <a:endParaRPr lang="en-US" dirty="0"/>
          </a:p>
        </p:txBody>
      </p:sp>
    </p:spTree>
    <p:extLst>
      <p:ext uri="{BB962C8B-B14F-4D97-AF65-F5344CB8AC3E}">
        <p14:creationId xmlns:p14="http://schemas.microsoft.com/office/powerpoint/2010/main" val="251919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7A3CC-3D4B-456B-86BD-AE71FA363C7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891FE1-6CCF-4642-A729-D23F176388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0F8E2BC-D0AD-4A19-937C-35BB69B0F319}"/>
              </a:ext>
            </a:extLst>
          </p:cNvPr>
          <p:cNvSpPr>
            <a:spLocks noGrp="1"/>
          </p:cNvSpPr>
          <p:nvPr>
            <p:ph type="dt" sz="half" idx="10"/>
          </p:nvPr>
        </p:nvSpPr>
        <p:spPr/>
        <p:txBody>
          <a:bodyPr/>
          <a:lstStyle/>
          <a:p>
            <a:fld id="{8A845317-EA4F-4A64-9A0A-84A9FB36DFBF}" type="datetime1">
              <a:rPr lang="en-US" smtClean="0"/>
              <a:t>11/9/2025</a:t>
            </a:fld>
            <a:endParaRPr lang="en-US"/>
          </a:p>
        </p:txBody>
      </p:sp>
      <p:sp>
        <p:nvSpPr>
          <p:cNvPr id="5" name="Footer Placeholder 4">
            <a:extLst>
              <a:ext uri="{FF2B5EF4-FFF2-40B4-BE49-F238E27FC236}">
                <a16:creationId xmlns:a16="http://schemas.microsoft.com/office/drawing/2014/main" id="{8E490A5F-E6E2-4B8D-9AF7-6A6AAD20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EE2A87-609A-473B-BD8E-C3FE65F715AA}"/>
              </a:ext>
            </a:extLst>
          </p:cNvPr>
          <p:cNvSpPr>
            <a:spLocks noGrp="1"/>
          </p:cNvSpPr>
          <p:nvPr>
            <p:ph type="sldNum" sz="quarter" idx="12"/>
          </p:nvPr>
        </p:nvSpPr>
        <p:spPr/>
        <p:txBody>
          <a:bodyPr/>
          <a:lstStyle>
            <a:lvl1pPr>
              <a:defRPr sz="1400">
                <a:solidFill>
                  <a:schemeClr val="tx1"/>
                </a:solidFill>
              </a:defRPr>
            </a:lvl1pPr>
          </a:lstStyle>
          <a:p>
            <a:fld id="{241BFB48-7771-40F1-A34B-9DBE21ACBAA3}" type="slidenum">
              <a:rPr lang="en-US" smtClean="0"/>
              <a:pPr/>
              <a:t>‹#›</a:t>
            </a:fld>
            <a:endParaRPr lang="en-US" dirty="0"/>
          </a:p>
        </p:txBody>
      </p:sp>
    </p:spTree>
    <p:extLst>
      <p:ext uri="{BB962C8B-B14F-4D97-AF65-F5344CB8AC3E}">
        <p14:creationId xmlns:p14="http://schemas.microsoft.com/office/powerpoint/2010/main" val="3621714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432F0-7771-4BEC-ABB9-12327FA62D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C5788-228C-460C-8F4C-B3F5ED3D3A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74446E-3544-427A-9D69-6324554CFC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730811-A853-4BC4-AA8F-375B0F552859}"/>
              </a:ext>
            </a:extLst>
          </p:cNvPr>
          <p:cNvSpPr>
            <a:spLocks noGrp="1"/>
          </p:cNvSpPr>
          <p:nvPr>
            <p:ph type="dt" sz="half" idx="10"/>
          </p:nvPr>
        </p:nvSpPr>
        <p:spPr/>
        <p:txBody>
          <a:bodyPr/>
          <a:lstStyle/>
          <a:p>
            <a:fld id="{C5DD46F6-5A11-487D-AA2B-DCA1D6BFB920}" type="datetime1">
              <a:rPr lang="en-US" smtClean="0"/>
              <a:t>11/9/2025</a:t>
            </a:fld>
            <a:endParaRPr lang="en-US"/>
          </a:p>
        </p:txBody>
      </p:sp>
      <p:sp>
        <p:nvSpPr>
          <p:cNvPr id="6" name="Footer Placeholder 5">
            <a:extLst>
              <a:ext uri="{FF2B5EF4-FFF2-40B4-BE49-F238E27FC236}">
                <a16:creationId xmlns:a16="http://schemas.microsoft.com/office/drawing/2014/main" id="{C5B47E60-D0E5-484E-B070-2CB53D2593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1C8D4-7B59-41BC-A604-F87C8E0A73B8}"/>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919253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9F8B6-C7D3-47BA-8977-0793575EA09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FCDB33-D1FE-42EE-B145-1F42398A61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E16AF4-4855-449D-9E9B-BACD332987C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3A9904-37F9-4B8D-97AC-CB01B63235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787AD5-A764-4903-B41D-11831A094F7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249FA4-4684-4183-BA58-1CFBAF55943A}"/>
              </a:ext>
            </a:extLst>
          </p:cNvPr>
          <p:cNvSpPr>
            <a:spLocks noGrp="1"/>
          </p:cNvSpPr>
          <p:nvPr>
            <p:ph type="dt" sz="half" idx="10"/>
          </p:nvPr>
        </p:nvSpPr>
        <p:spPr/>
        <p:txBody>
          <a:bodyPr/>
          <a:lstStyle/>
          <a:p>
            <a:fld id="{CFDD44BB-98E2-4C7F-A1AB-518574E2A71A}" type="datetime1">
              <a:rPr lang="en-US" smtClean="0"/>
              <a:t>11/9/2025</a:t>
            </a:fld>
            <a:endParaRPr lang="en-US"/>
          </a:p>
        </p:txBody>
      </p:sp>
      <p:sp>
        <p:nvSpPr>
          <p:cNvPr id="8" name="Footer Placeholder 7">
            <a:extLst>
              <a:ext uri="{FF2B5EF4-FFF2-40B4-BE49-F238E27FC236}">
                <a16:creationId xmlns:a16="http://schemas.microsoft.com/office/drawing/2014/main" id="{8F9F7FAB-80E2-4063-94CF-E865B008854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DD707B-3598-419D-8020-88C288522D96}"/>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2472670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99DDA-F8F6-4253-B0BE-AD1CFC70F6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647CC3-8C68-4FC0-A0C3-8CCB7433476A}"/>
              </a:ext>
            </a:extLst>
          </p:cNvPr>
          <p:cNvSpPr>
            <a:spLocks noGrp="1"/>
          </p:cNvSpPr>
          <p:nvPr>
            <p:ph type="dt" sz="half" idx="10"/>
          </p:nvPr>
        </p:nvSpPr>
        <p:spPr/>
        <p:txBody>
          <a:bodyPr/>
          <a:lstStyle/>
          <a:p>
            <a:fld id="{21601566-76DB-424C-8FA4-37CABCB3D7A4}" type="datetime1">
              <a:rPr lang="en-US" smtClean="0"/>
              <a:t>11/9/2025</a:t>
            </a:fld>
            <a:endParaRPr lang="en-US"/>
          </a:p>
        </p:txBody>
      </p:sp>
      <p:sp>
        <p:nvSpPr>
          <p:cNvPr id="4" name="Footer Placeholder 3">
            <a:extLst>
              <a:ext uri="{FF2B5EF4-FFF2-40B4-BE49-F238E27FC236}">
                <a16:creationId xmlns:a16="http://schemas.microsoft.com/office/drawing/2014/main" id="{72895BF9-DA4C-4F4F-80A5-6AECBCB6F1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F425776-A459-47C7-8A9E-F4F2273994A7}"/>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1179082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CDAFD0-9D47-4617-B906-5515AA94068B}"/>
              </a:ext>
            </a:extLst>
          </p:cNvPr>
          <p:cNvSpPr>
            <a:spLocks noGrp="1"/>
          </p:cNvSpPr>
          <p:nvPr>
            <p:ph type="dt" sz="half" idx="10"/>
          </p:nvPr>
        </p:nvSpPr>
        <p:spPr/>
        <p:txBody>
          <a:bodyPr/>
          <a:lstStyle/>
          <a:p>
            <a:fld id="{1292BC1F-7E97-446D-AE96-FACDC861C1AF}" type="datetime1">
              <a:rPr lang="en-US" smtClean="0"/>
              <a:t>11/9/2025</a:t>
            </a:fld>
            <a:endParaRPr lang="en-US"/>
          </a:p>
        </p:txBody>
      </p:sp>
      <p:sp>
        <p:nvSpPr>
          <p:cNvPr id="3" name="Footer Placeholder 2">
            <a:extLst>
              <a:ext uri="{FF2B5EF4-FFF2-40B4-BE49-F238E27FC236}">
                <a16:creationId xmlns:a16="http://schemas.microsoft.com/office/drawing/2014/main" id="{9AFC0880-653B-410A-88D9-F2E19937B5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F20DAA-C461-4D2F-B98B-6003AA9D3DF0}"/>
              </a:ext>
            </a:extLst>
          </p:cNvPr>
          <p:cNvSpPr>
            <a:spLocks noGrp="1"/>
          </p:cNvSpPr>
          <p:nvPr>
            <p:ph type="sldNum" sz="quarter" idx="12"/>
          </p:nvPr>
        </p:nvSpPr>
        <p:spPr/>
        <p:txBody>
          <a:bodyPr/>
          <a:lstStyle>
            <a:lvl1pPr>
              <a:defRPr sz="1400">
                <a:solidFill>
                  <a:schemeClr val="tx1"/>
                </a:solidFill>
              </a:defRPr>
            </a:lvl1pPr>
          </a:lstStyle>
          <a:p>
            <a:fld id="{241BFB48-7771-40F1-A34B-9DBE21ACBAA3}" type="slidenum">
              <a:rPr lang="en-US" smtClean="0"/>
              <a:pPr/>
              <a:t>‹#›</a:t>
            </a:fld>
            <a:endParaRPr lang="en-US" dirty="0"/>
          </a:p>
        </p:txBody>
      </p:sp>
    </p:spTree>
    <p:extLst>
      <p:ext uri="{BB962C8B-B14F-4D97-AF65-F5344CB8AC3E}">
        <p14:creationId xmlns:p14="http://schemas.microsoft.com/office/powerpoint/2010/main" val="3570730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1D0B4-054B-4D4C-B2EE-1DE943FB2A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3FF73FA-89C4-4AC5-A110-B1606F9326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70B3495-D631-4793-BE33-C274CFF8DC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FCE788-9A10-4A38-AF3B-0EF81EA83C4E}"/>
              </a:ext>
            </a:extLst>
          </p:cNvPr>
          <p:cNvSpPr>
            <a:spLocks noGrp="1"/>
          </p:cNvSpPr>
          <p:nvPr>
            <p:ph type="dt" sz="half" idx="10"/>
          </p:nvPr>
        </p:nvSpPr>
        <p:spPr/>
        <p:txBody>
          <a:bodyPr/>
          <a:lstStyle/>
          <a:p>
            <a:fld id="{0190CB20-4874-4D12-B1DE-7B473FECCE62}" type="datetime1">
              <a:rPr lang="en-US" smtClean="0"/>
              <a:t>11/9/2025</a:t>
            </a:fld>
            <a:endParaRPr lang="en-US"/>
          </a:p>
        </p:txBody>
      </p:sp>
      <p:sp>
        <p:nvSpPr>
          <p:cNvPr id="6" name="Footer Placeholder 5">
            <a:extLst>
              <a:ext uri="{FF2B5EF4-FFF2-40B4-BE49-F238E27FC236}">
                <a16:creationId xmlns:a16="http://schemas.microsoft.com/office/drawing/2014/main" id="{E03A4675-81EE-471C-B262-ECC47ED110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C2A8C5-23F1-449D-8A3E-8BF17EBB333F}"/>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18007003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E6FB1D-D847-493F-A28A-DAC6765143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AA0BE1-888B-426B-B9F4-7709DE3EB3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4E5BDB8-075B-4C28-97A4-631E93970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32BA3D-C0F6-4E79-8A1A-77DCD56F5F5B}"/>
              </a:ext>
            </a:extLst>
          </p:cNvPr>
          <p:cNvSpPr>
            <a:spLocks noGrp="1"/>
          </p:cNvSpPr>
          <p:nvPr>
            <p:ph type="dt" sz="half" idx="10"/>
          </p:nvPr>
        </p:nvSpPr>
        <p:spPr/>
        <p:txBody>
          <a:bodyPr/>
          <a:lstStyle/>
          <a:p>
            <a:fld id="{14B7F377-5102-4E48-ACC8-654565A8137E}" type="datetime1">
              <a:rPr lang="en-US" smtClean="0"/>
              <a:t>11/9/2025</a:t>
            </a:fld>
            <a:endParaRPr lang="en-US"/>
          </a:p>
        </p:txBody>
      </p:sp>
      <p:sp>
        <p:nvSpPr>
          <p:cNvPr id="6" name="Footer Placeholder 5">
            <a:extLst>
              <a:ext uri="{FF2B5EF4-FFF2-40B4-BE49-F238E27FC236}">
                <a16:creationId xmlns:a16="http://schemas.microsoft.com/office/drawing/2014/main" id="{AA497F74-A0B2-4D67-9078-196A9D3563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FA2E539-D810-499A-9283-3E33FF3184BB}"/>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14353138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E943A-8794-47E2-99A8-B24D4F5A79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159B7F-31DF-46C3-9A47-368EC41CCD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5FEBE2-5847-4A47-8A5A-26877F4FEE00}"/>
              </a:ext>
            </a:extLst>
          </p:cNvPr>
          <p:cNvSpPr>
            <a:spLocks noGrp="1"/>
          </p:cNvSpPr>
          <p:nvPr>
            <p:ph type="dt" sz="half" idx="10"/>
          </p:nvPr>
        </p:nvSpPr>
        <p:spPr/>
        <p:txBody>
          <a:bodyPr/>
          <a:lstStyle/>
          <a:p>
            <a:fld id="{17C50694-8C3F-40C4-89D7-6BDDB5B06339}" type="datetime1">
              <a:rPr lang="en-US" smtClean="0"/>
              <a:t>11/9/2025</a:t>
            </a:fld>
            <a:endParaRPr lang="en-US"/>
          </a:p>
        </p:txBody>
      </p:sp>
      <p:sp>
        <p:nvSpPr>
          <p:cNvPr id="5" name="Footer Placeholder 4">
            <a:extLst>
              <a:ext uri="{FF2B5EF4-FFF2-40B4-BE49-F238E27FC236}">
                <a16:creationId xmlns:a16="http://schemas.microsoft.com/office/drawing/2014/main" id="{A51EF840-3F39-4661-BB58-05D2107207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3B9137-AF7D-4DF4-B8F1-040661A3AD23}"/>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581388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BFC79C-3A6E-4211-AB38-E9A7CD64FD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8E07B4D-7422-416E-AAA7-762CBDBADC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F9CBD1-8FC8-4EB2-98A6-08B2B97BCB79}"/>
              </a:ext>
            </a:extLst>
          </p:cNvPr>
          <p:cNvSpPr>
            <a:spLocks noGrp="1"/>
          </p:cNvSpPr>
          <p:nvPr>
            <p:ph type="dt" sz="half" idx="10"/>
          </p:nvPr>
        </p:nvSpPr>
        <p:spPr/>
        <p:txBody>
          <a:bodyPr/>
          <a:lstStyle/>
          <a:p>
            <a:fld id="{A8BA6357-C5DF-4229-813D-68D671D8ECAC}" type="datetime1">
              <a:rPr lang="en-US" smtClean="0"/>
              <a:t>11/9/2025</a:t>
            </a:fld>
            <a:endParaRPr lang="en-US"/>
          </a:p>
        </p:txBody>
      </p:sp>
      <p:sp>
        <p:nvSpPr>
          <p:cNvPr id="5" name="Footer Placeholder 4">
            <a:extLst>
              <a:ext uri="{FF2B5EF4-FFF2-40B4-BE49-F238E27FC236}">
                <a16:creationId xmlns:a16="http://schemas.microsoft.com/office/drawing/2014/main" id="{9A95C90E-CE2F-4682-9F59-8C247CF9E6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9612C4-B535-4547-B026-655A45600245}"/>
              </a:ext>
            </a:extLst>
          </p:cNvPr>
          <p:cNvSpPr>
            <a:spLocks noGrp="1"/>
          </p:cNvSpPr>
          <p:nvPr>
            <p:ph type="sldNum" sz="quarter" idx="12"/>
          </p:nvPr>
        </p:nvSpPr>
        <p:spPr/>
        <p:txBody>
          <a:bodyPr/>
          <a:lstStyle/>
          <a:p>
            <a:fld id="{241BFB48-7771-40F1-A34B-9DBE21ACBAA3}" type="slidenum">
              <a:rPr lang="en-US" smtClean="0"/>
              <a:t>‹#›</a:t>
            </a:fld>
            <a:endParaRPr lang="en-US"/>
          </a:p>
        </p:txBody>
      </p:sp>
    </p:spTree>
    <p:extLst>
      <p:ext uri="{BB962C8B-B14F-4D97-AF65-F5344CB8AC3E}">
        <p14:creationId xmlns:p14="http://schemas.microsoft.com/office/powerpoint/2010/main" val="394411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2F9C8-A3F4-447F-BC8E-AA563F5228C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A73A22-C94D-49B3-A396-B784D3AD3227}"/>
              </a:ext>
            </a:extLst>
          </p:cNvPr>
          <p:cNvSpPr>
            <a:spLocks noGrp="1"/>
          </p:cNvSpPr>
          <p:nvPr>
            <p:ph type="dt" sz="half" idx="10"/>
          </p:nvPr>
        </p:nvSpPr>
        <p:spPr/>
        <p:txBody>
          <a:bodyPr/>
          <a:lstStyle/>
          <a:p>
            <a:fld id="{8A0A7EF4-18B1-4B03-9BD5-44E47DC0FF09}" type="datetime1">
              <a:rPr lang="en-US" smtClean="0"/>
              <a:t>11/9/2025</a:t>
            </a:fld>
            <a:endParaRPr lang="en-US"/>
          </a:p>
        </p:txBody>
      </p:sp>
      <p:sp>
        <p:nvSpPr>
          <p:cNvPr id="4" name="Footer Placeholder 3">
            <a:extLst>
              <a:ext uri="{FF2B5EF4-FFF2-40B4-BE49-F238E27FC236}">
                <a16:creationId xmlns:a16="http://schemas.microsoft.com/office/drawing/2014/main" id="{7C64DB87-638E-47B5-80BE-672DDD5018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66E1B3-F70F-48B0-9855-4095380F22E9}"/>
              </a:ext>
            </a:extLst>
          </p:cNvPr>
          <p:cNvSpPr>
            <a:spLocks noGrp="1"/>
          </p:cNvSpPr>
          <p:nvPr>
            <p:ph type="sldNum" sz="quarter" idx="12"/>
          </p:nvPr>
        </p:nvSpPr>
        <p:spPr/>
        <p:txBody>
          <a:bodyPr/>
          <a:lstStyle/>
          <a:p>
            <a:fld id="{241BFB48-7771-40F1-A34B-9DBE21ACBAA3}" type="slidenum">
              <a:rPr lang="en-US" smtClean="0"/>
              <a:pPr/>
              <a:t>‹#›</a:t>
            </a:fld>
            <a:endParaRPr lang="en-US" dirty="0"/>
          </a:p>
        </p:txBody>
      </p:sp>
    </p:spTree>
    <p:extLst>
      <p:ext uri="{BB962C8B-B14F-4D97-AF65-F5344CB8AC3E}">
        <p14:creationId xmlns:p14="http://schemas.microsoft.com/office/powerpoint/2010/main" val="2154120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20B757-4039-49DE-A7AD-DF611AED17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140F8F4-91F9-4B0F-B1C2-B6DED9479E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9529E-D930-4DDE-894A-E00CF4B1B7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7E4D7F-A975-4744-9523-B252351F401D}" type="datetime1">
              <a:rPr lang="en-US" smtClean="0"/>
              <a:t>11/9/2025</a:t>
            </a:fld>
            <a:endParaRPr lang="en-US"/>
          </a:p>
        </p:txBody>
      </p:sp>
      <p:sp>
        <p:nvSpPr>
          <p:cNvPr id="5" name="Footer Placeholder 4">
            <a:extLst>
              <a:ext uri="{FF2B5EF4-FFF2-40B4-BE49-F238E27FC236}">
                <a16:creationId xmlns:a16="http://schemas.microsoft.com/office/drawing/2014/main" id="{9B07E1B1-30E5-4D92-8DD3-95A21B7721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86391F9-1435-4168-8E24-7AEC349020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1BFB48-7771-40F1-A34B-9DBE21ACBAA3}" type="slidenum">
              <a:rPr lang="en-US" smtClean="0"/>
              <a:pPr/>
              <a:t>‹#›</a:t>
            </a:fld>
            <a:endParaRPr lang="en-US" dirty="0"/>
          </a:p>
        </p:txBody>
      </p:sp>
    </p:spTree>
    <p:extLst>
      <p:ext uri="{BB962C8B-B14F-4D97-AF65-F5344CB8AC3E}">
        <p14:creationId xmlns:p14="http://schemas.microsoft.com/office/powerpoint/2010/main" val="279730088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22.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5.png"/><Relationship Id="rId9"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C0BDD-32A7-4415-B39F-FA546A09FCCD}"/>
              </a:ext>
            </a:extLst>
          </p:cNvPr>
          <p:cNvSpPr>
            <a:spLocks noGrp="1"/>
          </p:cNvSpPr>
          <p:nvPr>
            <p:ph type="ctrTitle"/>
          </p:nvPr>
        </p:nvSpPr>
        <p:spPr>
          <a:xfrm>
            <a:off x="55611" y="575305"/>
            <a:ext cx="12125739" cy="2238081"/>
          </a:xfrm>
        </p:spPr>
        <p:txBody>
          <a:bodyPr>
            <a:normAutofit/>
          </a:bodyPr>
          <a:lstStyle/>
          <a:p>
            <a:r>
              <a:rPr lang="en-GB" sz="4400" b="1" dirty="0">
                <a:solidFill>
                  <a:schemeClr val="accent1">
                    <a:lumMod val="75000"/>
                  </a:schemeClr>
                </a:solidFill>
              </a:rPr>
              <a:t>A Hybrid Model Predictive Control of PMSM Drives with Common Mode Voltage and Switching Loss reduction</a:t>
            </a:r>
            <a:br>
              <a:rPr lang="en-GB" sz="4400" b="1" dirty="0"/>
            </a:br>
            <a:endParaRPr lang="en-US" sz="2800" b="1" baseline="-25000" dirty="0"/>
          </a:p>
        </p:txBody>
      </p:sp>
      <p:sp>
        <p:nvSpPr>
          <p:cNvPr id="3" name="Subtitle 2">
            <a:extLst>
              <a:ext uri="{FF2B5EF4-FFF2-40B4-BE49-F238E27FC236}">
                <a16:creationId xmlns:a16="http://schemas.microsoft.com/office/drawing/2014/main" id="{49C6A217-9D02-46E1-85A0-4D1A2007862F}"/>
              </a:ext>
            </a:extLst>
          </p:cNvPr>
          <p:cNvSpPr>
            <a:spLocks noGrp="1"/>
          </p:cNvSpPr>
          <p:nvPr>
            <p:ph type="subTitle" idx="1"/>
          </p:nvPr>
        </p:nvSpPr>
        <p:spPr>
          <a:xfrm>
            <a:off x="3004965" y="3706256"/>
            <a:ext cx="6115807" cy="2576439"/>
          </a:xfrm>
        </p:spPr>
        <p:txBody>
          <a:bodyPr>
            <a:normAutofit lnSpcReduction="10000"/>
          </a:bodyPr>
          <a:lstStyle/>
          <a:p>
            <a:r>
              <a:rPr lang="en-IN" sz="1700" b="1" dirty="0">
                <a:latin typeface="Times New Roman" panose="02020603050405020304" pitchFamily="18" charset="0"/>
                <a:cs typeface="Times New Roman" panose="02020603050405020304" pitchFamily="18" charset="0"/>
              </a:rPr>
              <a:t>Prepared by:</a:t>
            </a:r>
            <a:r>
              <a:rPr lang="en-IN" sz="1700" b="1" i="1" dirty="0">
                <a:latin typeface="Times New Roman" panose="02020603050405020304" pitchFamily="18" charset="0"/>
                <a:cs typeface="Times New Roman" panose="02020603050405020304" pitchFamily="18" charset="0"/>
              </a:rPr>
              <a:t> </a:t>
            </a:r>
            <a:r>
              <a:rPr lang="en-IN" sz="1700" i="1" dirty="0">
                <a:latin typeface="Times New Roman" panose="02020603050405020304" pitchFamily="18" charset="0"/>
                <a:cs typeface="Times New Roman" panose="02020603050405020304" pitchFamily="18" charset="0"/>
              </a:rPr>
              <a:t>Mr. Rohith Reddy </a:t>
            </a:r>
          </a:p>
          <a:p>
            <a:r>
              <a:rPr lang="en-IN" sz="1700" i="1" dirty="0">
                <a:latin typeface="Times New Roman" panose="02020603050405020304" pitchFamily="18" charset="0"/>
                <a:cs typeface="Times New Roman" panose="02020603050405020304" pitchFamily="18" charset="0"/>
              </a:rPr>
              <a:t>Electrical Engineering</a:t>
            </a:r>
          </a:p>
          <a:p>
            <a:r>
              <a:rPr lang="en-IN" sz="1700" i="1" dirty="0">
                <a:latin typeface="Times New Roman" panose="02020603050405020304" pitchFamily="18" charset="0"/>
                <a:cs typeface="Times New Roman" panose="02020603050405020304" pitchFamily="18" charset="0"/>
              </a:rPr>
              <a:t>School of Electrical and Computer Sciences</a:t>
            </a:r>
            <a:endParaRPr lang="en-IN" sz="1700" dirty="0">
              <a:latin typeface="Times New Roman" panose="02020603050405020304" pitchFamily="18" charset="0"/>
              <a:cs typeface="Times New Roman" panose="02020603050405020304" pitchFamily="18" charset="0"/>
            </a:endParaRPr>
          </a:p>
          <a:p>
            <a:r>
              <a:rPr lang="en-IN" sz="1700" i="1" dirty="0">
                <a:latin typeface="Times New Roman" panose="02020603050405020304" pitchFamily="18" charset="0"/>
                <a:cs typeface="Times New Roman" panose="02020603050405020304" pitchFamily="18" charset="0"/>
              </a:rPr>
              <a:t>IIT Bhubaneswar</a:t>
            </a:r>
            <a:endParaRPr lang="en-IN" sz="1700" dirty="0">
              <a:latin typeface="Times New Roman" panose="02020603050405020304" pitchFamily="18" charset="0"/>
              <a:cs typeface="Times New Roman" panose="02020603050405020304" pitchFamily="18" charset="0"/>
            </a:endParaRPr>
          </a:p>
          <a:p>
            <a:r>
              <a:rPr lang="en-IN" sz="1700" b="1" dirty="0">
                <a:latin typeface="Times New Roman" panose="02020603050405020304" pitchFamily="18" charset="0"/>
                <a:cs typeface="Times New Roman" panose="02020603050405020304" pitchFamily="18" charset="0"/>
              </a:rPr>
              <a:t>Under the supervision of:</a:t>
            </a:r>
            <a:endParaRPr lang="en-IN" sz="1700" dirty="0">
              <a:latin typeface="Times New Roman" panose="02020603050405020304" pitchFamily="18" charset="0"/>
              <a:cs typeface="Times New Roman" panose="02020603050405020304" pitchFamily="18" charset="0"/>
            </a:endParaRPr>
          </a:p>
          <a:p>
            <a:r>
              <a:rPr lang="en-IN" sz="1700" i="1" dirty="0">
                <a:latin typeface="Times New Roman" panose="02020603050405020304" pitchFamily="18" charset="0"/>
                <a:cs typeface="Times New Roman" panose="02020603050405020304" pitchFamily="18" charset="0"/>
              </a:rPr>
              <a:t>Dr. Ankit Dalal</a:t>
            </a:r>
            <a:endParaRPr lang="en-IN" sz="1700" dirty="0">
              <a:latin typeface="Times New Roman" panose="02020603050405020304" pitchFamily="18" charset="0"/>
              <a:cs typeface="Times New Roman" panose="02020603050405020304" pitchFamily="18" charset="0"/>
            </a:endParaRPr>
          </a:p>
          <a:p>
            <a:br>
              <a:rPr lang="en-IN" sz="1800" dirty="0"/>
            </a:br>
            <a:endParaRPr lang="en-US" sz="1600" dirty="0">
              <a:latin typeface="Arial" panose="020B0604020202020204" pitchFamily="34" charset="0"/>
              <a:cs typeface="Arial" panose="020B0604020202020204" pitchFamily="34" charset="0"/>
            </a:endParaRPr>
          </a:p>
        </p:txBody>
      </p:sp>
      <p:sp>
        <p:nvSpPr>
          <p:cNvPr id="8" name="Slide Number Placeholder 3">
            <a:extLst>
              <a:ext uri="{FF2B5EF4-FFF2-40B4-BE49-F238E27FC236}">
                <a16:creationId xmlns:a16="http://schemas.microsoft.com/office/drawing/2014/main" id="{DB262CCB-31FA-BC1B-440A-E222FA14783A}"/>
              </a:ext>
            </a:extLst>
          </p:cNvPr>
          <p:cNvSpPr>
            <a:spLocks noGrp="1"/>
          </p:cNvSpPr>
          <p:nvPr>
            <p:ph type="sldNum" sz="quarter" idx="12"/>
          </p:nvPr>
        </p:nvSpPr>
        <p:spPr>
          <a:xfrm>
            <a:off x="9438150" y="6473845"/>
            <a:ext cx="2743200" cy="365125"/>
          </a:xfrm>
        </p:spPr>
        <p:txBody>
          <a:bodyPr/>
          <a:lstStyle/>
          <a:p>
            <a:r>
              <a:rPr lang="en-US" sz="1400" dirty="0">
                <a:solidFill>
                  <a:schemeClr val="tx1"/>
                </a:solidFill>
                <a:latin typeface="Arial" panose="020B0604020202020204" pitchFamily="34" charset="0"/>
                <a:cs typeface="Arial" panose="020B0604020202020204" pitchFamily="34" charset="0"/>
              </a:rPr>
              <a:t>1</a:t>
            </a:r>
          </a:p>
        </p:txBody>
      </p:sp>
    </p:spTree>
    <p:extLst>
      <p:ext uri="{BB962C8B-B14F-4D97-AF65-F5344CB8AC3E}">
        <p14:creationId xmlns:p14="http://schemas.microsoft.com/office/powerpoint/2010/main" val="2825550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6672-4FEB-2336-9E43-BA1D0A30E972}"/>
              </a:ext>
            </a:extLst>
          </p:cNvPr>
          <p:cNvSpPr>
            <a:spLocks noGrp="1"/>
          </p:cNvSpPr>
          <p:nvPr>
            <p:ph type="title"/>
          </p:nvPr>
        </p:nvSpPr>
        <p:spPr>
          <a:xfrm>
            <a:off x="838200" y="209444"/>
            <a:ext cx="10515600" cy="471593"/>
          </a:xfrm>
        </p:spPr>
        <p:txBody>
          <a:bodyPr anchor="ctr">
            <a:noAutofit/>
          </a:bodyPr>
          <a:lstStyle/>
          <a:p>
            <a:r>
              <a:rPr lang="en-US" b="1" dirty="0">
                <a:solidFill>
                  <a:schemeClr val="accent1">
                    <a:lumMod val="75000"/>
                  </a:schemeClr>
                </a:solidFill>
                <a:latin typeface="+mn-lt"/>
                <a:cs typeface="Times New Roman" panose="02020603050405020304" pitchFamily="18" charset="0"/>
              </a:rPr>
              <a:t>Table of Contents</a:t>
            </a:r>
            <a:endParaRPr lang="en-IN" b="1" dirty="0">
              <a:solidFill>
                <a:schemeClr val="accent1">
                  <a:lumMod val="75000"/>
                </a:schemeClr>
              </a:solidFill>
              <a:latin typeface="+mn-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620BE024-E623-7FBB-E559-0116D82B13A9}"/>
              </a:ext>
            </a:extLst>
          </p:cNvPr>
          <p:cNvSpPr>
            <a:spLocks noGrp="1"/>
          </p:cNvSpPr>
          <p:nvPr>
            <p:ph type="sldNum" sz="quarter" idx="12"/>
          </p:nvPr>
        </p:nvSpPr>
        <p:spPr>
          <a:xfrm>
            <a:off x="9438150" y="6473845"/>
            <a:ext cx="2743200" cy="365125"/>
          </a:xfrm>
        </p:spPr>
        <p:txBody>
          <a:bodyPr anchor="ctr">
            <a:normAutofit/>
          </a:bodyPr>
          <a:lstStyle/>
          <a:p>
            <a:pPr>
              <a:spcAft>
                <a:spcPts val="600"/>
              </a:spcAft>
            </a:pPr>
            <a:fld id="{241BFB48-7771-40F1-A34B-9DBE21ACBAA3}" type="slidenum">
              <a:rPr lang="en-US" smtClean="0">
                <a:latin typeface="+mn-lt"/>
              </a:rPr>
              <a:pPr>
                <a:spcAft>
                  <a:spcPts val="600"/>
                </a:spcAft>
              </a:pPr>
              <a:t>2</a:t>
            </a:fld>
            <a:endParaRPr lang="en-US" dirty="0">
              <a:latin typeface="+mn-lt"/>
            </a:endParaRPr>
          </a:p>
        </p:txBody>
      </p:sp>
      <p:graphicFrame>
        <p:nvGraphicFramePr>
          <p:cNvPr id="6" name="Content Placeholder 2">
            <a:extLst>
              <a:ext uri="{FF2B5EF4-FFF2-40B4-BE49-F238E27FC236}">
                <a16:creationId xmlns:a16="http://schemas.microsoft.com/office/drawing/2014/main" id="{7CC3BEE3-5437-531C-04FB-7CDA1E5BBDB0}"/>
              </a:ext>
            </a:extLst>
          </p:cNvPr>
          <p:cNvGraphicFramePr>
            <a:graphicFrameLocks noGrp="1"/>
          </p:cNvGraphicFramePr>
          <p:nvPr>
            <p:ph idx="1"/>
            <p:extLst>
              <p:ext uri="{D42A27DB-BD31-4B8C-83A1-F6EECF244321}">
                <p14:modId xmlns:p14="http://schemas.microsoft.com/office/powerpoint/2010/main" val="1962082190"/>
              </p:ext>
            </p:extLst>
          </p:nvPr>
        </p:nvGraphicFramePr>
        <p:xfrm>
          <a:off x="1051063" y="870817"/>
          <a:ext cx="10089874" cy="53654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IIT Bhubaneswar - Wikipedia">
            <a:extLst>
              <a:ext uri="{FF2B5EF4-FFF2-40B4-BE49-F238E27FC236}">
                <a16:creationId xmlns:a16="http://schemas.microsoft.com/office/drawing/2014/main" id="{D3E2768B-0581-8B73-468D-814FA79B627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329581" y="19030"/>
            <a:ext cx="851769" cy="788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2291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046AF-F20C-DF62-F8F5-CB9E9AD844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40F9B-4A85-1DB2-D09C-30EDCC9C13DB}"/>
              </a:ext>
            </a:extLst>
          </p:cNvPr>
          <p:cNvSpPr>
            <a:spLocks noGrp="1"/>
          </p:cNvSpPr>
          <p:nvPr>
            <p:ph idx="1"/>
          </p:nvPr>
        </p:nvSpPr>
        <p:spPr>
          <a:xfrm>
            <a:off x="142910" y="1419733"/>
            <a:ext cx="7613161" cy="4018533"/>
          </a:xfrm>
        </p:spPr>
        <p:txBody>
          <a:bodyPr>
            <a:noAutofit/>
          </a:bodyPr>
          <a:lstStyle/>
          <a:p>
            <a:r>
              <a:rPr lang="en-US" sz="1800" dirty="0"/>
              <a:t>A control strategy that uses a system model to </a:t>
            </a:r>
            <a:r>
              <a:rPr lang="en-US" sz="1800" b="1" dirty="0"/>
              <a:t>predict future behavior</a:t>
            </a:r>
            <a:r>
              <a:rPr lang="en-US" sz="1800" dirty="0"/>
              <a:t>.</a:t>
            </a:r>
          </a:p>
          <a:p>
            <a:r>
              <a:rPr lang="en-US" sz="1800" b="1" dirty="0"/>
              <a:t>Key Principle:</a:t>
            </a:r>
            <a:r>
              <a:rPr lang="en-US" sz="1800" dirty="0"/>
              <a:t> Receding Horizon</a:t>
            </a:r>
          </a:p>
          <a:p>
            <a:pPr lvl="1"/>
            <a:r>
              <a:rPr lang="en-US" sz="1800" dirty="0"/>
              <a:t>Predict system states over a future horizon.</a:t>
            </a:r>
          </a:p>
          <a:p>
            <a:pPr lvl="1"/>
            <a:r>
              <a:rPr lang="en-US" sz="1800" dirty="0"/>
              <a:t>Optimize a </a:t>
            </a:r>
            <a:r>
              <a:rPr lang="en-US" sz="1800" b="1" dirty="0"/>
              <a:t>cost function</a:t>
            </a:r>
            <a:r>
              <a:rPr lang="en-US" sz="1800" dirty="0"/>
              <a:t> to select the best control action.</a:t>
            </a:r>
          </a:p>
          <a:p>
            <a:pPr lvl="1"/>
            <a:r>
              <a:rPr lang="en-US" sz="1800" dirty="0"/>
              <a:t>Apply only the first control action from the sequence.</a:t>
            </a:r>
          </a:p>
          <a:p>
            <a:pPr lvl="1"/>
            <a:r>
              <a:rPr lang="en-US" sz="1800" dirty="0"/>
              <a:t>Repeat the process at each time step.</a:t>
            </a:r>
          </a:p>
          <a:p>
            <a:r>
              <a:rPr lang="en-US" sz="1800" b="1" dirty="0"/>
              <a:t>Advantages for Motor Drives:</a:t>
            </a:r>
            <a:endParaRPr lang="en-US" sz="1800" dirty="0"/>
          </a:p>
          <a:p>
            <a:pPr lvl="1"/>
            <a:r>
              <a:rPr lang="en-US" sz="1800" dirty="0"/>
              <a:t>Fast dynamic response.</a:t>
            </a:r>
          </a:p>
          <a:p>
            <a:pPr lvl="1"/>
            <a:r>
              <a:rPr lang="en-US" sz="1800" dirty="0"/>
              <a:t>Enforces current and voltage constraints naturally.</a:t>
            </a:r>
          </a:p>
          <a:p>
            <a:pPr lvl="1"/>
            <a:r>
              <a:rPr lang="en-US" sz="1800" dirty="0"/>
              <a:t>No need for cascaded PI controllers or modulators.</a:t>
            </a:r>
          </a:p>
          <a:p>
            <a:pPr lvl="1"/>
            <a:r>
              <a:rPr lang="en-US" sz="1800" dirty="0"/>
              <a:t>Can add new constraints easily by modifying cost function.</a:t>
            </a:r>
          </a:p>
          <a:p>
            <a:pPr marL="0" indent="0">
              <a:buNone/>
            </a:pPr>
            <a:br>
              <a:rPr lang="en-US" sz="2000" dirty="0"/>
            </a:br>
            <a:endParaRPr lang="en-IN" sz="2000" dirty="0"/>
          </a:p>
        </p:txBody>
      </p:sp>
      <p:sp>
        <p:nvSpPr>
          <p:cNvPr id="4" name="Slide Number Placeholder 3">
            <a:extLst>
              <a:ext uri="{FF2B5EF4-FFF2-40B4-BE49-F238E27FC236}">
                <a16:creationId xmlns:a16="http://schemas.microsoft.com/office/drawing/2014/main" id="{5EA97ADE-FD69-5A9C-DE61-1C58EB99AE3E}"/>
              </a:ext>
            </a:extLst>
          </p:cNvPr>
          <p:cNvSpPr>
            <a:spLocks noGrp="1"/>
          </p:cNvSpPr>
          <p:nvPr>
            <p:ph type="sldNum" sz="quarter" idx="12"/>
          </p:nvPr>
        </p:nvSpPr>
        <p:spPr/>
        <p:txBody>
          <a:bodyPr/>
          <a:lstStyle/>
          <a:p>
            <a:fld id="{241BFB48-7771-40F1-A34B-9DBE21ACBAA3}" type="slidenum">
              <a:rPr lang="en-US" smtClean="0"/>
              <a:pPr/>
              <a:t>3</a:t>
            </a:fld>
            <a:endParaRPr lang="en-US" dirty="0"/>
          </a:p>
        </p:txBody>
      </p:sp>
      <p:sp>
        <p:nvSpPr>
          <p:cNvPr id="7" name="TextBox 6">
            <a:extLst>
              <a:ext uri="{FF2B5EF4-FFF2-40B4-BE49-F238E27FC236}">
                <a16:creationId xmlns:a16="http://schemas.microsoft.com/office/drawing/2014/main" id="{90A2C15A-83E4-DE5D-F11B-98CA0195A2AC}"/>
              </a:ext>
            </a:extLst>
          </p:cNvPr>
          <p:cNvSpPr txBox="1"/>
          <p:nvPr/>
        </p:nvSpPr>
        <p:spPr>
          <a:xfrm>
            <a:off x="428660" y="120945"/>
            <a:ext cx="7327411" cy="646331"/>
          </a:xfrm>
          <a:prstGeom prst="rect">
            <a:avLst/>
          </a:prstGeom>
          <a:noFill/>
        </p:spPr>
        <p:txBody>
          <a:bodyPr wrap="square">
            <a:spAutoFit/>
          </a:bodyPr>
          <a:lstStyle/>
          <a:p>
            <a:r>
              <a:rPr lang="en-US" sz="3600" dirty="0">
                <a:solidFill>
                  <a:srgbClr val="170282"/>
                </a:solidFill>
              </a:rPr>
              <a:t>What is Model Predictive Control?</a:t>
            </a:r>
            <a:endParaRPr lang="en-IN" sz="3600" dirty="0">
              <a:solidFill>
                <a:srgbClr val="170282"/>
              </a:solidFill>
            </a:endParaRPr>
          </a:p>
        </p:txBody>
      </p:sp>
      <p:pic>
        <p:nvPicPr>
          <p:cNvPr id="8" name="Picture 2" descr="IIT Bhubaneswar - Wikipedia">
            <a:extLst>
              <a:ext uri="{FF2B5EF4-FFF2-40B4-BE49-F238E27FC236}">
                <a16:creationId xmlns:a16="http://schemas.microsoft.com/office/drawing/2014/main" id="{541820AE-562A-311A-428C-D9210768E8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5051" y="19030"/>
            <a:ext cx="851769" cy="788607"/>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7A6178D5-89F7-3E06-2024-7D18C7D28D2F}"/>
              </a:ext>
            </a:extLst>
          </p:cNvPr>
          <p:cNvPicPr>
            <a:picLocks noChangeAspect="1"/>
          </p:cNvPicPr>
          <p:nvPr/>
        </p:nvPicPr>
        <p:blipFill>
          <a:blip r:embed="rId3"/>
          <a:stretch>
            <a:fillRect/>
          </a:stretch>
        </p:blipFill>
        <p:spPr>
          <a:xfrm>
            <a:off x="6725922" y="807637"/>
            <a:ext cx="5323168" cy="2148537"/>
          </a:xfrm>
          <a:prstGeom prst="rect">
            <a:avLst/>
          </a:prstGeom>
        </p:spPr>
      </p:pic>
      <p:pic>
        <p:nvPicPr>
          <p:cNvPr id="57" name="Picture 56">
            <a:extLst>
              <a:ext uri="{FF2B5EF4-FFF2-40B4-BE49-F238E27FC236}">
                <a16:creationId xmlns:a16="http://schemas.microsoft.com/office/drawing/2014/main" id="{1549A580-F703-E5BF-3952-EB731AEAFE32}"/>
              </a:ext>
            </a:extLst>
          </p:cNvPr>
          <p:cNvPicPr>
            <a:picLocks noChangeAspect="1"/>
          </p:cNvPicPr>
          <p:nvPr/>
        </p:nvPicPr>
        <p:blipFill>
          <a:blip r:embed="rId4"/>
          <a:stretch>
            <a:fillRect/>
          </a:stretch>
        </p:blipFill>
        <p:spPr>
          <a:xfrm>
            <a:off x="7063735" y="3191861"/>
            <a:ext cx="5128265" cy="2964010"/>
          </a:xfrm>
          <a:prstGeom prst="rect">
            <a:avLst/>
          </a:prstGeom>
        </p:spPr>
      </p:pic>
    </p:spTree>
    <p:extLst>
      <p:ext uri="{BB962C8B-B14F-4D97-AF65-F5344CB8AC3E}">
        <p14:creationId xmlns:p14="http://schemas.microsoft.com/office/powerpoint/2010/main" val="3641824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D277-B70D-83F6-75C8-1A503EC8E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4BA7C2-2D7B-363A-DB3E-AA8AF90068F6}"/>
              </a:ext>
            </a:extLst>
          </p:cNvPr>
          <p:cNvSpPr>
            <a:spLocks noGrp="1"/>
          </p:cNvSpPr>
          <p:nvPr>
            <p:ph type="title"/>
          </p:nvPr>
        </p:nvSpPr>
        <p:spPr>
          <a:xfrm>
            <a:off x="254441" y="144993"/>
            <a:ext cx="4587240" cy="471593"/>
          </a:xfrm>
        </p:spPr>
        <p:txBody>
          <a:bodyPr/>
          <a:lstStyle/>
          <a:p>
            <a:r>
              <a:rPr lang="en-IN" dirty="0">
                <a:solidFill>
                  <a:srgbClr val="170282"/>
                </a:solidFill>
              </a:rPr>
              <a:t>Model Predictive Control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A5EE421-8CA5-ECA4-1878-F5CA456497CE}"/>
                  </a:ext>
                </a:extLst>
              </p:cNvPr>
              <p:cNvSpPr>
                <a:spLocks noGrp="1"/>
              </p:cNvSpPr>
              <p:nvPr>
                <p:ph idx="1"/>
              </p:nvPr>
            </p:nvSpPr>
            <p:spPr>
              <a:xfrm>
                <a:off x="293066" y="670240"/>
                <a:ext cx="7537837" cy="5635144"/>
              </a:xfrm>
            </p:spPr>
            <p:txBody>
              <a:bodyPr>
                <a:normAutofit/>
              </a:bodyPr>
              <a:lstStyle/>
              <a:p>
                <a:r>
                  <a:rPr lang="en-US" sz="1800" dirty="0"/>
                  <a:t>Space vector definitions for the stator voltage, stator current are:</a:t>
                </a:r>
              </a:p>
              <a:p>
                <a:endParaRPr lang="en-US" sz="1800" dirty="0"/>
              </a:p>
              <a:p>
                <a:endParaRPr lang="en-US" sz="1800" dirty="0"/>
              </a:p>
              <a:p>
                <a:pPr marL="0" indent="0">
                  <a:buNone/>
                </a:pPr>
                <a:endParaRPr lang="en-US" sz="1800" dirty="0"/>
              </a:p>
              <a:p>
                <a:r>
                  <a:rPr lang="en-US" sz="1800" dirty="0"/>
                  <a:t>the stator dynamics can be described as : </a:t>
                </a:r>
              </a:p>
              <a:p>
                <a:endParaRPr lang="en-US" sz="1800" dirty="0"/>
              </a:p>
              <a:p>
                <a:pPr marL="0" indent="0">
                  <a:buNone/>
                </a:pPr>
                <a:r>
                  <a:rPr lang="en-US" sz="1800" dirty="0"/>
                  <a:t> </a:t>
                </a:r>
              </a:p>
              <a:p>
                <a:r>
                  <a:rPr lang="en-US" sz="1900" dirty="0"/>
                  <a:t>To </a:t>
                </a:r>
                <a:r>
                  <a:rPr lang="en-US" sz="1900" dirty="0" err="1"/>
                  <a:t>simplfy</a:t>
                </a:r>
                <a:r>
                  <a:rPr lang="en-US" sz="1900" dirty="0"/>
                  <a:t> the model ,the equation is transformed into rotor reference frame by multiplying though by </a:t>
                </a:r>
                <a14:m>
                  <m:oMath xmlns:m="http://schemas.openxmlformats.org/officeDocument/2006/math">
                    <m:sSup>
                      <m:sSupPr>
                        <m:ctrlPr>
                          <a:rPr lang="en-IN" sz="1900" i="1">
                            <a:latin typeface="Cambria Math" panose="02040503050406030204" pitchFamily="18" charset="0"/>
                          </a:rPr>
                        </m:ctrlPr>
                      </m:sSupPr>
                      <m:e>
                        <m:r>
                          <a:rPr lang="en-IN" sz="1900" i="1">
                            <a:latin typeface="Cambria Math" panose="02040503050406030204" pitchFamily="18" charset="0"/>
                          </a:rPr>
                          <m:t>𝑒</m:t>
                        </m:r>
                      </m:e>
                      <m:sup>
                        <m:r>
                          <a:rPr lang="en-IN" sz="1900" i="1">
                            <a:latin typeface="Cambria Math" panose="02040503050406030204" pitchFamily="18" charset="0"/>
                          </a:rPr>
                          <m:t>−</m:t>
                        </m:r>
                        <m:r>
                          <a:rPr lang="en-IN" sz="1900" i="1">
                            <a:latin typeface="Cambria Math" panose="02040503050406030204" pitchFamily="18" charset="0"/>
                          </a:rPr>
                          <m:t>𝑗</m:t>
                        </m:r>
                        <m:r>
                          <a:rPr lang="en-IN" sz="1900" i="1">
                            <a:latin typeface="Cambria Math" panose="02040503050406030204" pitchFamily="18" charset="0"/>
                          </a:rPr>
                          <m:t>𝜔</m:t>
                        </m:r>
                        <m:r>
                          <a:rPr lang="en-IN" sz="1900" i="1">
                            <a:latin typeface="Cambria Math" panose="02040503050406030204" pitchFamily="18" charset="0"/>
                          </a:rPr>
                          <m:t>𝑡</m:t>
                        </m:r>
                      </m:sup>
                    </m:sSup>
                  </m:oMath>
                </a14:m>
                <a:r>
                  <a:rPr lang="en-IN" sz="1900" dirty="0"/>
                  <a:t> and rewriting the equations in DQ frame followed by applying Euler’s Approximation gives : </a:t>
                </a:r>
              </a:p>
              <a:p>
                <a:endParaRPr lang="en-US" sz="1800" dirty="0"/>
              </a:p>
              <a:p>
                <a:endParaRPr lang="en-US" sz="1800" dirty="0"/>
              </a:p>
              <a:p>
                <a:endParaRPr lang="en-US" sz="1800" dirty="0"/>
              </a:p>
              <a:p>
                <a:endParaRPr lang="en-US" sz="1800" dirty="0"/>
              </a:p>
              <a:p>
                <a:pPr marL="0" indent="0">
                  <a:buNone/>
                </a:pPr>
                <a:r>
                  <a:rPr lang="en-US" sz="1800" dirty="0"/>
                  <a:t>.</a:t>
                </a:r>
                <a:endParaRPr lang="en-US" sz="1800" baseline="-25000" dirty="0"/>
              </a:p>
            </p:txBody>
          </p:sp>
        </mc:Choice>
        <mc:Fallback>
          <p:sp>
            <p:nvSpPr>
              <p:cNvPr id="3" name="Content Placeholder 2">
                <a:extLst>
                  <a:ext uri="{FF2B5EF4-FFF2-40B4-BE49-F238E27FC236}">
                    <a16:creationId xmlns:a16="http://schemas.microsoft.com/office/drawing/2014/main" id="{5A5EE421-8CA5-ECA4-1878-F5CA456497CE}"/>
                  </a:ext>
                </a:extLst>
              </p:cNvPr>
              <p:cNvSpPr>
                <a:spLocks noGrp="1" noRot="1" noChangeAspect="1" noMove="1" noResize="1" noEditPoints="1" noAdjustHandles="1" noChangeArrowheads="1" noChangeShapeType="1" noTextEdit="1"/>
              </p:cNvSpPr>
              <p:nvPr>
                <p:ph idx="1"/>
              </p:nvPr>
            </p:nvSpPr>
            <p:spPr>
              <a:xfrm>
                <a:off x="293066" y="670240"/>
                <a:ext cx="7537837" cy="5635144"/>
              </a:xfrm>
              <a:blipFill>
                <a:blip r:embed="rId2"/>
                <a:stretch>
                  <a:fillRect l="-647" t="-1082" r="-1132" b="-1732"/>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F158363-4F6A-CE5A-02A2-10BD70C3E789}"/>
              </a:ext>
            </a:extLst>
          </p:cNvPr>
          <p:cNvSpPr>
            <a:spLocks noGrp="1"/>
          </p:cNvSpPr>
          <p:nvPr>
            <p:ph type="sldNum" sz="quarter" idx="12"/>
          </p:nvPr>
        </p:nvSpPr>
        <p:spPr/>
        <p:txBody>
          <a:bodyPr/>
          <a:lstStyle/>
          <a:p>
            <a:fld id="{241BFB48-7771-40F1-A34B-9DBE21ACBAA3}" type="slidenum">
              <a:rPr lang="en-US" smtClean="0"/>
              <a:pPr/>
              <a:t>4</a:t>
            </a:fld>
            <a:endParaRPr lang="en-US" dirty="0"/>
          </a:p>
        </p:txBody>
      </p:sp>
      <p:pic>
        <p:nvPicPr>
          <p:cNvPr id="8" name="Picture 7">
            <a:extLst>
              <a:ext uri="{FF2B5EF4-FFF2-40B4-BE49-F238E27FC236}">
                <a16:creationId xmlns:a16="http://schemas.microsoft.com/office/drawing/2014/main" id="{5DB0281A-869A-F1B6-A8D8-68C7A91EA814}"/>
              </a:ext>
            </a:extLst>
          </p:cNvPr>
          <p:cNvPicPr>
            <a:picLocks noChangeAspect="1"/>
          </p:cNvPicPr>
          <p:nvPr/>
        </p:nvPicPr>
        <p:blipFill>
          <a:blip r:embed="rId3"/>
          <a:stretch>
            <a:fillRect/>
          </a:stretch>
        </p:blipFill>
        <p:spPr>
          <a:xfrm>
            <a:off x="7126485" y="616586"/>
            <a:ext cx="4927350" cy="2556720"/>
          </a:xfrm>
          <a:prstGeom prst="rect">
            <a:avLst/>
          </a:prstGeom>
        </p:spPr>
      </p:pic>
      <p:pic>
        <p:nvPicPr>
          <p:cNvPr id="9" name="Picture 2" descr="IIT Bhubaneswar - Wikipedia">
            <a:extLst>
              <a:ext uri="{FF2B5EF4-FFF2-40B4-BE49-F238E27FC236}">
                <a16:creationId xmlns:a16="http://schemas.microsoft.com/office/drawing/2014/main" id="{2830C1E4-FEF6-172A-3815-144DBA0FAF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5051" y="19030"/>
            <a:ext cx="851769" cy="7886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323C4790-8391-C8FF-CA97-8F0EF111C73E}"/>
                  </a:ext>
                </a:extLst>
              </p:cNvPr>
              <p:cNvSpPr txBox="1"/>
              <p:nvPr/>
            </p:nvSpPr>
            <p:spPr>
              <a:xfrm>
                <a:off x="2064737" y="931570"/>
                <a:ext cx="2767937"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𝐯</m:t>
                          </m:r>
                        </m:e>
                        <m:sub>
                          <m:r>
                            <a:rPr lang="en-IN" i="1">
                              <a:latin typeface="Cambria Math" panose="02040503050406030204" pitchFamily="18" charset="0"/>
                            </a:rPr>
                            <m:t>𝐬</m:t>
                          </m:r>
                        </m:sub>
                      </m:sSub>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2</m:t>
                          </m:r>
                        </m:num>
                        <m:den>
                          <m:r>
                            <a:rPr lang="en-IN" i="1">
                              <a:latin typeface="Cambria Math" panose="02040503050406030204" pitchFamily="18" charset="0"/>
                            </a:rPr>
                            <m:t>3</m:t>
                          </m:r>
                        </m:den>
                      </m:f>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i="1">
                                  <a:latin typeface="Cambria Math" panose="02040503050406030204" pitchFamily="18" charset="0"/>
                                </a:rPr>
                                <m:t>𝑠𝑎</m:t>
                              </m:r>
                            </m:sub>
                          </m:sSub>
                          <m:r>
                            <a:rPr lang="en-IN" i="1">
                              <a:latin typeface="Cambria Math" panose="02040503050406030204" pitchFamily="18" charset="0"/>
                            </a:rPr>
                            <m:t>+</m:t>
                          </m:r>
                          <m:r>
                            <a:rPr lang="en-IN" i="1">
                              <a:latin typeface="Cambria Math" panose="02040503050406030204" pitchFamily="18" charset="0"/>
                            </a:rPr>
                            <m:t>𝑎</m:t>
                          </m:r>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i="1">
                                  <a:latin typeface="Cambria Math" panose="02040503050406030204" pitchFamily="18" charset="0"/>
                                </a:rPr>
                                <m:t>𝑠𝑏</m:t>
                              </m:r>
                            </m:sub>
                          </m:sSub>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i="1">
                                  <a:latin typeface="Cambria Math" panose="02040503050406030204" pitchFamily="18" charset="0"/>
                                </a:rPr>
                                <m:t>2</m:t>
                              </m:r>
                            </m:sup>
                          </m:sSup>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i="1">
                                  <a:latin typeface="Cambria Math" panose="02040503050406030204" pitchFamily="18" charset="0"/>
                                </a:rPr>
                                <m:t>𝑠𝑐</m:t>
                              </m:r>
                            </m:sub>
                          </m:sSub>
                        </m:e>
                      </m:d>
                    </m:oMath>
                  </m:oMathPara>
                </a14:m>
                <a:endParaRPr lang="en-IN" dirty="0"/>
              </a:p>
            </p:txBody>
          </p:sp>
        </mc:Choice>
        <mc:Fallback>
          <p:sp>
            <p:nvSpPr>
              <p:cNvPr id="10" name="TextBox 9">
                <a:extLst>
                  <a:ext uri="{FF2B5EF4-FFF2-40B4-BE49-F238E27FC236}">
                    <a16:creationId xmlns:a16="http://schemas.microsoft.com/office/drawing/2014/main" id="{323C4790-8391-C8FF-CA97-8F0EF111C73E}"/>
                  </a:ext>
                </a:extLst>
              </p:cNvPr>
              <p:cNvSpPr txBox="1">
                <a:spLocks noRot="1" noChangeAspect="1" noMove="1" noResize="1" noEditPoints="1" noAdjustHandles="1" noChangeArrowheads="1" noChangeShapeType="1" noTextEdit="1"/>
              </p:cNvSpPr>
              <p:nvPr/>
            </p:nvSpPr>
            <p:spPr>
              <a:xfrm>
                <a:off x="2064737" y="931570"/>
                <a:ext cx="2767937" cy="520399"/>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528ED3EF-FF10-F949-B2CB-053993E0967A}"/>
                  </a:ext>
                </a:extLst>
              </p:cNvPr>
              <p:cNvSpPr txBox="1"/>
              <p:nvPr/>
            </p:nvSpPr>
            <p:spPr>
              <a:xfrm>
                <a:off x="2072164" y="1488519"/>
                <a:ext cx="2604944"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𝐢</m:t>
                          </m:r>
                        </m:e>
                        <m:sub>
                          <m:r>
                            <a:rPr lang="en-IN" i="1">
                              <a:latin typeface="Cambria Math" panose="02040503050406030204" pitchFamily="18" charset="0"/>
                            </a:rPr>
                            <m:t>𝐬</m:t>
                          </m:r>
                        </m:sub>
                      </m:sSub>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2</m:t>
                          </m:r>
                        </m:num>
                        <m:den>
                          <m:r>
                            <a:rPr lang="en-IN" i="1">
                              <a:latin typeface="Cambria Math" panose="02040503050406030204" pitchFamily="18" charset="0"/>
                            </a:rPr>
                            <m:t>3</m:t>
                          </m:r>
                        </m:den>
                      </m:f>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𝑠𝑎</m:t>
                              </m:r>
                            </m:sub>
                          </m:sSub>
                          <m:r>
                            <a:rPr lang="en-IN" i="1">
                              <a:latin typeface="Cambria Math" panose="02040503050406030204" pitchFamily="18" charset="0"/>
                            </a:rPr>
                            <m:t>+</m:t>
                          </m:r>
                          <m:r>
                            <a:rPr lang="en-IN" i="1">
                              <a:latin typeface="Cambria Math" panose="02040503050406030204" pitchFamily="18" charset="0"/>
                            </a:rPr>
                            <m:t>𝑎</m:t>
                          </m:r>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𝑠𝑏</m:t>
                              </m:r>
                            </m:sub>
                          </m:sSub>
                          <m:r>
                            <a:rPr lang="en-IN" i="1">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𝑎</m:t>
                              </m:r>
                            </m:e>
                            <m:sup>
                              <m:r>
                                <a:rPr lang="en-IN" i="1">
                                  <a:latin typeface="Cambria Math" panose="02040503050406030204" pitchFamily="18" charset="0"/>
                                </a:rPr>
                                <m:t>2</m:t>
                              </m:r>
                            </m:sup>
                          </m:sSup>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𝑠𝑐</m:t>
                              </m:r>
                            </m:sub>
                          </m:sSub>
                        </m:e>
                      </m:d>
                    </m:oMath>
                  </m:oMathPara>
                </a14:m>
                <a:endParaRPr lang="en-IN" dirty="0"/>
              </a:p>
            </p:txBody>
          </p:sp>
        </mc:Choice>
        <mc:Fallback>
          <p:sp>
            <p:nvSpPr>
              <p:cNvPr id="11" name="TextBox 10">
                <a:extLst>
                  <a:ext uri="{FF2B5EF4-FFF2-40B4-BE49-F238E27FC236}">
                    <a16:creationId xmlns:a16="http://schemas.microsoft.com/office/drawing/2014/main" id="{528ED3EF-FF10-F949-B2CB-053993E0967A}"/>
                  </a:ext>
                </a:extLst>
              </p:cNvPr>
              <p:cNvSpPr txBox="1">
                <a:spLocks noRot="1" noChangeAspect="1" noMove="1" noResize="1" noEditPoints="1" noAdjustHandles="1" noChangeArrowheads="1" noChangeShapeType="1" noTextEdit="1"/>
              </p:cNvSpPr>
              <p:nvPr/>
            </p:nvSpPr>
            <p:spPr>
              <a:xfrm>
                <a:off x="2072164" y="1488519"/>
                <a:ext cx="2604944" cy="52039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974BC92-C067-0365-3F74-51B12E05C3C8}"/>
                  </a:ext>
                </a:extLst>
              </p:cNvPr>
              <p:cNvSpPr txBox="1"/>
              <p:nvPr/>
            </p:nvSpPr>
            <p:spPr>
              <a:xfrm>
                <a:off x="903054" y="2515583"/>
                <a:ext cx="1651158" cy="52591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𝐯</m:t>
                          </m:r>
                        </m:e>
                        <m:sub>
                          <m:r>
                            <a:rPr lang="en-IN" i="1">
                              <a:latin typeface="Cambria Math" panose="02040503050406030204" pitchFamily="18" charset="0"/>
                            </a:rPr>
                            <m:t>𝐬</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𝐢</m:t>
                          </m:r>
                        </m:e>
                        <m:sub>
                          <m:r>
                            <a:rPr lang="en-IN" i="1">
                              <a:latin typeface="Cambria Math" panose="02040503050406030204" pitchFamily="18" charset="0"/>
                            </a:rPr>
                            <m:t>𝐬</m:t>
                          </m:r>
                        </m:sub>
                      </m:sSub>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𝑑</m:t>
                          </m:r>
                          <m:sSub>
                            <m:sSubPr>
                              <m:ctrlPr>
                                <a:rPr lang="en-IN" i="1">
                                  <a:latin typeface="Cambria Math" panose="02040503050406030204" pitchFamily="18" charset="0"/>
                                </a:rPr>
                              </m:ctrlPr>
                            </m:sSubPr>
                            <m:e>
                              <m:r>
                                <a:rPr lang="en-IN" i="1">
                                  <a:latin typeface="Cambria Math" panose="02040503050406030204" pitchFamily="18" charset="0"/>
                                </a:rPr>
                                <m:t>𝝍</m:t>
                              </m:r>
                            </m:e>
                            <m:sub>
                              <m:r>
                                <a:rPr lang="en-IN" i="1">
                                  <a:latin typeface="Cambria Math" panose="02040503050406030204" pitchFamily="18" charset="0"/>
                                </a:rPr>
                                <m:t>𝒔</m:t>
                              </m:r>
                            </m:sub>
                          </m:sSub>
                        </m:num>
                        <m:den>
                          <m:r>
                            <a:rPr lang="en-IN" i="1">
                              <a:latin typeface="Cambria Math" panose="02040503050406030204" pitchFamily="18" charset="0"/>
                            </a:rPr>
                            <m:t>𝑑𝑡</m:t>
                          </m:r>
                        </m:den>
                      </m:f>
                    </m:oMath>
                  </m:oMathPara>
                </a14:m>
                <a:endParaRPr lang="en-IN" dirty="0"/>
              </a:p>
            </p:txBody>
          </p:sp>
        </mc:Choice>
        <mc:Fallback>
          <p:sp>
            <p:nvSpPr>
              <p:cNvPr id="13" name="TextBox 12">
                <a:extLst>
                  <a:ext uri="{FF2B5EF4-FFF2-40B4-BE49-F238E27FC236}">
                    <a16:creationId xmlns:a16="http://schemas.microsoft.com/office/drawing/2014/main" id="{E974BC92-C067-0365-3F74-51B12E05C3C8}"/>
                  </a:ext>
                </a:extLst>
              </p:cNvPr>
              <p:cNvSpPr txBox="1">
                <a:spLocks noRot="1" noChangeAspect="1" noMove="1" noResize="1" noEditPoints="1" noAdjustHandles="1" noChangeArrowheads="1" noChangeShapeType="1" noTextEdit="1"/>
              </p:cNvSpPr>
              <p:nvPr/>
            </p:nvSpPr>
            <p:spPr>
              <a:xfrm>
                <a:off x="903054" y="2515583"/>
                <a:ext cx="1651158" cy="525913"/>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AC2EA8D5-BFE5-C1CA-482E-92C83B1B4A82}"/>
                  </a:ext>
                </a:extLst>
              </p:cNvPr>
              <p:cNvSpPr txBox="1"/>
              <p:nvPr/>
            </p:nvSpPr>
            <p:spPr>
              <a:xfrm>
                <a:off x="3608632" y="2624162"/>
                <a:ext cx="2011833" cy="289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𝝍</m:t>
                          </m:r>
                        </m:e>
                        <m:sub>
                          <m:r>
                            <a:rPr lang="en-IN" i="1">
                              <a:latin typeface="Cambria Math" panose="02040503050406030204" pitchFamily="18" charset="0"/>
                            </a:rPr>
                            <m:t>𝒔</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𝐢</m:t>
                          </m:r>
                        </m:e>
                        <m:sub>
                          <m:r>
                            <a:rPr lang="en-IN" i="1">
                              <a:latin typeface="Cambria Math" panose="02040503050406030204" pitchFamily="18" charset="0"/>
                            </a:rPr>
                            <m:t>𝐬</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𝜓</m:t>
                          </m:r>
                        </m:e>
                        <m:sub>
                          <m:r>
                            <a:rPr lang="en-IN" i="1">
                              <a:latin typeface="Cambria Math" panose="02040503050406030204" pitchFamily="18" charset="0"/>
                            </a:rPr>
                            <m:t>𝑚</m:t>
                          </m:r>
                        </m:sub>
                      </m:sSub>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i="1">
                              <a:latin typeface="Cambria Math" panose="02040503050406030204" pitchFamily="18" charset="0"/>
                            </a:rPr>
                            <m:t>𝑗</m:t>
                          </m:r>
                          <m:sSub>
                            <m:sSubPr>
                              <m:ctrlPr>
                                <a:rPr lang="en-IN" i="1">
                                  <a:latin typeface="Cambria Math" panose="02040503050406030204" pitchFamily="18" charset="0"/>
                                </a:rPr>
                              </m:ctrlPr>
                            </m:sSubPr>
                            <m:e>
                              <m:r>
                                <a:rPr lang="en-IN" i="1">
                                  <a:latin typeface="Cambria Math" panose="02040503050406030204" pitchFamily="18" charset="0"/>
                                </a:rPr>
                                <m:t>𝜃</m:t>
                              </m:r>
                            </m:e>
                            <m:sub>
                              <m:r>
                                <a:rPr lang="en-IN" i="1">
                                  <a:latin typeface="Cambria Math" panose="02040503050406030204" pitchFamily="18" charset="0"/>
                                </a:rPr>
                                <m:t>𝑟</m:t>
                              </m:r>
                            </m:sub>
                          </m:sSub>
                        </m:sup>
                      </m:sSup>
                    </m:oMath>
                  </m:oMathPara>
                </a14:m>
                <a:endParaRPr lang="en-IN" dirty="0"/>
              </a:p>
            </p:txBody>
          </p:sp>
        </mc:Choice>
        <mc:Fallback>
          <p:sp>
            <p:nvSpPr>
              <p:cNvPr id="14" name="TextBox 13">
                <a:extLst>
                  <a:ext uri="{FF2B5EF4-FFF2-40B4-BE49-F238E27FC236}">
                    <a16:creationId xmlns:a16="http://schemas.microsoft.com/office/drawing/2014/main" id="{AC2EA8D5-BFE5-C1CA-482E-92C83B1B4A82}"/>
                  </a:ext>
                </a:extLst>
              </p:cNvPr>
              <p:cNvSpPr txBox="1">
                <a:spLocks noRot="1" noChangeAspect="1" noMove="1" noResize="1" noEditPoints="1" noAdjustHandles="1" noChangeArrowheads="1" noChangeShapeType="1" noTextEdit="1"/>
              </p:cNvSpPr>
              <p:nvPr/>
            </p:nvSpPr>
            <p:spPr>
              <a:xfrm>
                <a:off x="3608632" y="2624162"/>
                <a:ext cx="2011833" cy="289118"/>
              </a:xfrm>
              <a:prstGeom prst="rect">
                <a:avLst/>
              </a:prstGeom>
              <a:blipFill>
                <a:blip r:embed="rId8"/>
                <a:stretch>
                  <a:fillRect l="-3636" t="-2083" b="-31250"/>
                </a:stretch>
              </a:blipFill>
            </p:spPr>
            <p:txBody>
              <a:bodyPr/>
              <a:lstStyle/>
              <a:p>
                <a:r>
                  <a:rPr lang="en-IN">
                    <a:noFill/>
                  </a:rPr>
                  <a:t> </a:t>
                </a:r>
              </a:p>
            </p:txBody>
          </p:sp>
        </mc:Fallback>
      </mc:AlternateContent>
      <p:sp>
        <p:nvSpPr>
          <p:cNvPr id="15" name="TextBox 14">
            <a:extLst>
              <a:ext uri="{FF2B5EF4-FFF2-40B4-BE49-F238E27FC236}">
                <a16:creationId xmlns:a16="http://schemas.microsoft.com/office/drawing/2014/main" id="{7D1AA7B5-0A77-5C9C-29AB-62AAB7C511A6}"/>
              </a:ext>
            </a:extLst>
          </p:cNvPr>
          <p:cNvSpPr txBox="1"/>
          <p:nvPr/>
        </p:nvSpPr>
        <p:spPr>
          <a:xfrm>
            <a:off x="2691636" y="2584055"/>
            <a:ext cx="779572" cy="369332"/>
          </a:xfrm>
          <a:prstGeom prst="rect">
            <a:avLst/>
          </a:prstGeom>
          <a:noFill/>
        </p:spPr>
        <p:txBody>
          <a:bodyPr wrap="none" rtlCol="0">
            <a:spAutoFit/>
          </a:bodyPr>
          <a:lstStyle/>
          <a:p>
            <a:r>
              <a:rPr lang="en-IN" dirty="0"/>
              <a:t>where</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5D7ECC18-3FCD-6030-DE40-E70E998A9F37}"/>
                  </a:ext>
                </a:extLst>
              </p:cNvPr>
              <p:cNvSpPr txBox="1"/>
              <p:nvPr/>
            </p:nvSpPr>
            <p:spPr>
              <a:xfrm>
                <a:off x="818879" y="4443173"/>
                <a:ext cx="5304657" cy="6223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i="1">
                              <a:latin typeface="Cambria Math" panose="02040503050406030204" pitchFamily="18" charset="0"/>
                            </a:rPr>
                            <m:t>𝑖</m:t>
                          </m:r>
                        </m:e>
                        <m:sub>
                          <m:r>
                            <a:rPr lang="en-IN" i="1">
                              <a:latin typeface="Cambria Math" panose="02040503050406030204" pitchFamily="18" charset="0"/>
                            </a:rPr>
                            <m:t>𝑠𝑑</m:t>
                          </m:r>
                        </m:sub>
                        <m:sup>
                          <m:r>
                            <a:rPr lang="en-IN" i="1">
                              <a:latin typeface="Cambria Math" panose="02040503050406030204" pitchFamily="18" charset="0"/>
                            </a:rPr>
                            <m:t>𝑝</m:t>
                          </m:r>
                        </m:sup>
                      </m:sSubSup>
                      <m:d>
                        <m:dPr>
                          <m:ctrlPr>
                            <a:rPr lang="en-IN" i="1">
                              <a:latin typeface="Cambria Math" panose="02040503050406030204" pitchFamily="18" charset="0"/>
                            </a:rPr>
                          </m:ctrlPr>
                        </m:dPr>
                        <m:e>
                          <m:r>
                            <a:rPr lang="en-IN" i="1">
                              <a:latin typeface="Cambria Math" panose="02040503050406030204" pitchFamily="18" charset="0"/>
                            </a:rPr>
                            <m:t>𝑘</m:t>
                          </m:r>
                          <m:r>
                            <a:rPr lang="en-IN" i="1">
                              <a:latin typeface="Cambria Math" panose="02040503050406030204" pitchFamily="18" charset="0"/>
                            </a:rPr>
                            <m:t>+1</m:t>
                          </m:r>
                        </m:e>
                      </m:d>
                      <m:r>
                        <a:rPr lang="en-IN" i="1">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1−</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num>
                            <m:den>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𝑠</m:t>
                                  </m:r>
                                </m:sub>
                              </m:sSub>
                            </m:den>
                          </m:f>
                        </m:e>
                      </m:d>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𝑠𝑑</m:t>
                          </m:r>
                        </m:sub>
                      </m:sSub>
                      <m:d>
                        <m:dPr>
                          <m:ctrlPr>
                            <a:rPr lang="en-IN" i="1">
                              <a:latin typeface="Cambria Math" panose="02040503050406030204" pitchFamily="18" charset="0"/>
                            </a:rPr>
                          </m:ctrlPr>
                        </m:dPr>
                        <m:e>
                          <m:r>
                            <a:rPr lang="en-IN" i="1">
                              <a:latin typeface="Cambria Math" panose="02040503050406030204" pitchFamily="18" charset="0"/>
                            </a:rPr>
                            <m:t>𝑘</m:t>
                          </m:r>
                        </m:e>
                      </m:d>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𝜔</m:t>
                          </m:r>
                        </m:e>
                        <m:sub>
                          <m:r>
                            <a:rPr lang="en-IN" i="1">
                              <a:latin typeface="Cambria Math" panose="02040503050406030204" pitchFamily="18" charset="0"/>
                            </a:rPr>
                            <m:t>𝑟</m:t>
                          </m:r>
                        </m:sub>
                      </m:sSub>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𝑠𝑞</m:t>
                          </m:r>
                        </m:sub>
                      </m:sSub>
                      <m:d>
                        <m:dPr>
                          <m:ctrlPr>
                            <a:rPr lang="en-IN" i="1">
                              <a:latin typeface="Cambria Math" panose="02040503050406030204" pitchFamily="18" charset="0"/>
                            </a:rPr>
                          </m:ctrlPr>
                        </m:dPr>
                        <m:e>
                          <m:r>
                            <a:rPr lang="en-IN" i="1">
                              <a:latin typeface="Cambria Math" panose="02040503050406030204" pitchFamily="18" charset="0"/>
                            </a:rPr>
                            <m:t>𝑘</m:t>
                          </m:r>
                        </m:e>
                      </m:d>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num>
                        <m:den>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𝑠</m:t>
                              </m:r>
                            </m:sub>
                          </m:sSub>
                        </m:den>
                      </m:f>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i="1">
                              <a:latin typeface="Cambria Math" panose="02040503050406030204" pitchFamily="18" charset="0"/>
                            </a:rPr>
                            <m:t>𝑠𝑑</m:t>
                          </m:r>
                        </m:sub>
                      </m:sSub>
                    </m:oMath>
                  </m:oMathPara>
                </a14:m>
                <a:endParaRPr lang="en-IN" dirty="0"/>
              </a:p>
            </p:txBody>
          </p:sp>
        </mc:Choice>
        <mc:Fallback>
          <p:sp>
            <p:nvSpPr>
              <p:cNvPr id="5" name="TextBox 4">
                <a:extLst>
                  <a:ext uri="{FF2B5EF4-FFF2-40B4-BE49-F238E27FC236}">
                    <a16:creationId xmlns:a16="http://schemas.microsoft.com/office/drawing/2014/main" id="{5D7ECC18-3FCD-6030-DE40-E70E998A9F37}"/>
                  </a:ext>
                </a:extLst>
              </p:cNvPr>
              <p:cNvSpPr txBox="1">
                <a:spLocks noRot="1" noChangeAspect="1" noMove="1" noResize="1" noEditPoints="1" noAdjustHandles="1" noChangeArrowheads="1" noChangeShapeType="1" noTextEdit="1"/>
              </p:cNvSpPr>
              <p:nvPr/>
            </p:nvSpPr>
            <p:spPr>
              <a:xfrm>
                <a:off x="818879" y="4443173"/>
                <a:ext cx="5304657" cy="62235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50D9A7B-4901-6BCB-7634-F3C1188A2748}"/>
                  </a:ext>
                </a:extLst>
              </p:cNvPr>
              <p:cNvSpPr txBox="1"/>
              <p:nvPr/>
            </p:nvSpPr>
            <p:spPr>
              <a:xfrm>
                <a:off x="784942" y="5249732"/>
                <a:ext cx="6341543" cy="62235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i="1">
                              <a:latin typeface="Cambria Math" panose="02040503050406030204" pitchFamily="18" charset="0"/>
                            </a:rPr>
                            <m:t>𝑖</m:t>
                          </m:r>
                        </m:e>
                        <m:sub>
                          <m:r>
                            <a:rPr lang="en-IN" i="1">
                              <a:latin typeface="Cambria Math" panose="02040503050406030204" pitchFamily="18" charset="0"/>
                            </a:rPr>
                            <m:t>𝑠𝑞</m:t>
                          </m:r>
                        </m:sub>
                        <m:sup>
                          <m:r>
                            <a:rPr lang="en-IN" i="1">
                              <a:latin typeface="Cambria Math" panose="02040503050406030204" pitchFamily="18" charset="0"/>
                            </a:rPr>
                            <m:t>𝑝</m:t>
                          </m:r>
                        </m:sup>
                      </m:sSubSup>
                      <m:d>
                        <m:dPr>
                          <m:ctrlPr>
                            <a:rPr lang="en-IN" i="1">
                              <a:latin typeface="Cambria Math" panose="02040503050406030204" pitchFamily="18" charset="0"/>
                            </a:rPr>
                          </m:ctrlPr>
                        </m:dPr>
                        <m:e>
                          <m:r>
                            <a:rPr lang="en-IN" i="1">
                              <a:latin typeface="Cambria Math" panose="02040503050406030204" pitchFamily="18" charset="0"/>
                            </a:rPr>
                            <m:t>𝑘</m:t>
                          </m:r>
                          <m:r>
                            <a:rPr lang="en-IN" i="1">
                              <a:latin typeface="Cambria Math" panose="02040503050406030204" pitchFamily="18" charset="0"/>
                            </a:rPr>
                            <m:t>+1</m:t>
                          </m:r>
                        </m:e>
                      </m:d>
                      <m:r>
                        <a:rPr lang="en-IN" i="1">
                          <a:latin typeface="Cambria Math" panose="02040503050406030204" pitchFamily="18" charset="0"/>
                        </a:rPr>
                        <m:t>=</m:t>
                      </m:r>
                      <m:d>
                        <m:dPr>
                          <m:ctrlPr>
                            <a:rPr lang="en-IN" i="1">
                              <a:latin typeface="Cambria Math" panose="02040503050406030204" pitchFamily="18" charset="0"/>
                            </a:rPr>
                          </m:ctrlPr>
                        </m:dPr>
                        <m:e>
                          <m:r>
                            <a:rPr lang="en-IN" i="1">
                              <a:latin typeface="Cambria Math" panose="02040503050406030204" pitchFamily="18" charset="0"/>
                            </a:rPr>
                            <m:t>1−</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num>
                            <m:den>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𝑠</m:t>
                                  </m:r>
                                </m:sub>
                              </m:sSub>
                            </m:den>
                          </m:f>
                        </m:e>
                      </m:d>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𝑠𝑞</m:t>
                          </m:r>
                        </m:sub>
                      </m:sSub>
                      <m:d>
                        <m:dPr>
                          <m:ctrlPr>
                            <a:rPr lang="en-IN" i="1">
                              <a:latin typeface="Cambria Math" panose="02040503050406030204" pitchFamily="18" charset="0"/>
                            </a:rPr>
                          </m:ctrlPr>
                        </m:dPr>
                        <m:e>
                          <m:r>
                            <a:rPr lang="en-IN" i="1">
                              <a:latin typeface="Cambria Math" panose="02040503050406030204" pitchFamily="18" charset="0"/>
                            </a:rPr>
                            <m:t>𝑘</m:t>
                          </m:r>
                        </m:e>
                      </m:d>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sSub>
                        <m:sSubPr>
                          <m:ctrlPr>
                            <a:rPr lang="en-IN" i="1">
                              <a:latin typeface="Cambria Math" panose="02040503050406030204" pitchFamily="18" charset="0"/>
                            </a:rPr>
                          </m:ctrlPr>
                        </m:sSubPr>
                        <m:e>
                          <m:r>
                            <a:rPr lang="en-IN" i="1">
                              <a:latin typeface="Cambria Math" panose="02040503050406030204" pitchFamily="18" charset="0"/>
                            </a:rPr>
                            <m:t>𝜔</m:t>
                          </m:r>
                        </m:e>
                        <m:sub>
                          <m:r>
                            <a:rPr lang="en-IN" i="1">
                              <a:latin typeface="Cambria Math" panose="02040503050406030204" pitchFamily="18" charset="0"/>
                            </a:rPr>
                            <m:t>𝑟</m:t>
                          </m:r>
                        </m:sub>
                      </m:sSub>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𝑠𝑑</m:t>
                          </m:r>
                        </m:sub>
                      </m:sSub>
                      <m:d>
                        <m:dPr>
                          <m:ctrlPr>
                            <a:rPr lang="en-IN" i="1">
                              <a:latin typeface="Cambria Math" panose="02040503050406030204" pitchFamily="18" charset="0"/>
                            </a:rPr>
                          </m:ctrlPr>
                        </m:dPr>
                        <m:e>
                          <m:r>
                            <a:rPr lang="en-IN" i="1">
                              <a:latin typeface="Cambria Math" panose="02040503050406030204" pitchFamily="18" charset="0"/>
                            </a:rPr>
                            <m:t>𝑘</m:t>
                          </m:r>
                        </m:e>
                      </m:d>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𝜓</m:t>
                          </m:r>
                        </m:e>
                        <m:sub>
                          <m:r>
                            <a:rPr lang="en-IN" i="1">
                              <a:latin typeface="Cambria Math" panose="02040503050406030204" pitchFamily="18" charset="0"/>
                            </a:rPr>
                            <m:t>𝑚</m:t>
                          </m:r>
                        </m:sub>
                      </m:sSub>
                      <m:sSub>
                        <m:sSubPr>
                          <m:ctrlPr>
                            <a:rPr lang="en-IN" i="1">
                              <a:latin typeface="Cambria Math" panose="02040503050406030204" pitchFamily="18" charset="0"/>
                            </a:rPr>
                          </m:ctrlPr>
                        </m:sSubPr>
                        <m:e>
                          <m:r>
                            <a:rPr lang="en-IN" i="1">
                              <a:latin typeface="Cambria Math" panose="02040503050406030204" pitchFamily="18" charset="0"/>
                            </a:rPr>
                            <m:t>𝜔</m:t>
                          </m:r>
                        </m:e>
                        <m:sub>
                          <m:r>
                            <a:rPr lang="en-IN" i="1">
                              <a:latin typeface="Cambria Math" panose="02040503050406030204" pitchFamily="18" charset="0"/>
                            </a:rPr>
                            <m:t>𝑟</m:t>
                          </m:r>
                        </m:sub>
                      </m:sSub>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𝑠</m:t>
                              </m:r>
                            </m:sub>
                          </m:sSub>
                        </m:num>
                        <m:den>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1">
                                  <a:latin typeface="Cambria Math" panose="02040503050406030204" pitchFamily="18" charset="0"/>
                                </a:rPr>
                                <m:t>𝑠</m:t>
                              </m:r>
                            </m:sub>
                          </m:sSub>
                        </m:den>
                      </m:f>
                      <m:sSub>
                        <m:sSubPr>
                          <m:ctrlPr>
                            <a:rPr lang="en-IN" i="1">
                              <a:latin typeface="Cambria Math" panose="02040503050406030204" pitchFamily="18" charset="0"/>
                            </a:rPr>
                          </m:ctrlPr>
                        </m:sSubPr>
                        <m:e>
                          <m:r>
                            <a:rPr lang="en-IN" i="1">
                              <a:latin typeface="Cambria Math" panose="02040503050406030204" pitchFamily="18" charset="0"/>
                            </a:rPr>
                            <m:t>𝑣</m:t>
                          </m:r>
                        </m:e>
                        <m:sub>
                          <m:r>
                            <a:rPr lang="en-IN" i="1">
                              <a:latin typeface="Cambria Math" panose="02040503050406030204" pitchFamily="18" charset="0"/>
                            </a:rPr>
                            <m:t>𝑠𝑞</m:t>
                          </m:r>
                        </m:sub>
                      </m:sSub>
                    </m:oMath>
                  </m:oMathPara>
                </a14:m>
                <a:endParaRPr lang="en-IN" dirty="0"/>
              </a:p>
            </p:txBody>
          </p:sp>
        </mc:Choice>
        <mc:Fallback>
          <p:sp>
            <p:nvSpPr>
              <p:cNvPr id="6" name="TextBox 5">
                <a:extLst>
                  <a:ext uri="{FF2B5EF4-FFF2-40B4-BE49-F238E27FC236}">
                    <a16:creationId xmlns:a16="http://schemas.microsoft.com/office/drawing/2014/main" id="{150D9A7B-4901-6BCB-7634-F3C1188A2748}"/>
                  </a:ext>
                </a:extLst>
              </p:cNvPr>
              <p:cNvSpPr txBox="1">
                <a:spLocks noRot="1" noChangeAspect="1" noMove="1" noResize="1" noEditPoints="1" noAdjustHandles="1" noChangeArrowheads="1" noChangeShapeType="1" noTextEdit="1"/>
              </p:cNvSpPr>
              <p:nvPr/>
            </p:nvSpPr>
            <p:spPr>
              <a:xfrm>
                <a:off x="784942" y="5249732"/>
                <a:ext cx="6341543" cy="622350"/>
              </a:xfrm>
              <a:prstGeom prst="rect">
                <a:avLst/>
              </a:prstGeom>
              <a:blipFill>
                <a:blip r:embed="rId10"/>
                <a:stretch>
                  <a:fillRect/>
                </a:stretch>
              </a:blipFill>
            </p:spPr>
            <p:txBody>
              <a:bodyPr/>
              <a:lstStyle/>
              <a:p>
                <a:r>
                  <a:rPr lang="en-IN">
                    <a:noFill/>
                  </a:rPr>
                  <a:t> </a:t>
                </a:r>
              </a:p>
            </p:txBody>
          </p:sp>
        </mc:Fallback>
      </mc:AlternateContent>
      <p:pic>
        <p:nvPicPr>
          <p:cNvPr id="12" name="Picture 11">
            <a:extLst>
              <a:ext uri="{FF2B5EF4-FFF2-40B4-BE49-F238E27FC236}">
                <a16:creationId xmlns:a16="http://schemas.microsoft.com/office/drawing/2014/main" id="{FCD0816F-D312-BF03-AEF2-2A9A412C725D}"/>
              </a:ext>
            </a:extLst>
          </p:cNvPr>
          <p:cNvPicPr>
            <a:picLocks noChangeAspect="1"/>
          </p:cNvPicPr>
          <p:nvPr/>
        </p:nvPicPr>
        <p:blipFill>
          <a:blip r:embed="rId11"/>
          <a:stretch>
            <a:fillRect/>
          </a:stretch>
        </p:blipFill>
        <p:spPr>
          <a:xfrm>
            <a:off x="7643841" y="3476046"/>
            <a:ext cx="3460300" cy="2556605"/>
          </a:xfrm>
          <a:prstGeom prst="rect">
            <a:avLst/>
          </a:prstGeom>
        </p:spPr>
      </p:pic>
      <p:sp>
        <p:nvSpPr>
          <p:cNvPr id="17" name="TextBox 16">
            <a:extLst>
              <a:ext uri="{FF2B5EF4-FFF2-40B4-BE49-F238E27FC236}">
                <a16:creationId xmlns:a16="http://schemas.microsoft.com/office/drawing/2014/main" id="{EE1C972F-F402-D8ED-3B8F-33AEDAF8A8DD}"/>
              </a:ext>
            </a:extLst>
          </p:cNvPr>
          <p:cNvSpPr txBox="1"/>
          <p:nvPr/>
        </p:nvSpPr>
        <p:spPr>
          <a:xfrm>
            <a:off x="8523798" y="5872082"/>
            <a:ext cx="1612108" cy="369332"/>
          </a:xfrm>
          <a:prstGeom prst="rect">
            <a:avLst/>
          </a:prstGeom>
          <a:noFill/>
        </p:spPr>
        <p:txBody>
          <a:bodyPr wrap="none" rtlCol="0">
            <a:spAutoFit/>
          </a:bodyPr>
          <a:lstStyle/>
          <a:p>
            <a:r>
              <a:rPr lang="en-IN" dirty="0"/>
              <a:t>Vector diagram</a:t>
            </a:r>
          </a:p>
        </p:txBody>
      </p:sp>
      <p:sp>
        <p:nvSpPr>
          <p:cNvPr id="18" name="TextBox 17">
            <a:extLst>
              <a:ext uri="{FF2B5EF4-FFF2-40B4-BE49-F238E27FC236}">
                <a16:creationId xmlns:a16="http://schemas.microsoft.com/office/drawing/2014/main" id="{0A7D09CD-68DF-B566-BD9D-3FACCA851943}"/>
              </a:ext>
            </a:extLst>
          </p:cNvPr>
          <p:cNvSpPr txBox="1"/>
          <p:nvPr/>
        </p:nvSpPr>
        <p:spPr>
          <a:xfrm>
            <a:off x="7570856" y="3127235"/>
            <a:ext cx="3173176" cy="369332"/>
          </a:xfrm>
          <a:prstGeom prst="rect">
            <a:avLst/>
          </a:prstGeom>
          <a:noFill/>
        </p:spPr>
        <p:txBody>
          <a:bodyPr wrap="none" rtlCol="0">
            <a:spAutoFit/>
          </a:bodyPr>
          <a:lstStyle/>
          <a:p>
            <a:r>
              <a:rPr lang="en-IN" dirty="0"/>
              <a:t>PMSM fed by a 3 phase inverter</a:t>
            </a:r>
          </a:p>
        </p:txBody>
      </p:sp>
    </p:spTree>
    <p:extLst>
      <p:ext uri="{BB962C8B-B14F-4D97-AF65-F5344CB8AC3E}">
        <p14:creationId xmlns:p14="http://schemas.microsoft.com/office/powerpoint/2010/main" val="3693497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56282-0CC2-99F5-822C-453337E0B0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8A88C-92CF-885A-238B-40B858B1F7F6}"/>
              </a:ext>
            </a:extLst>
          </p:cNvPr>
          <p:cNvSpPr>
            <a:spLocks noGrp="1"/>
          </p:cNvSpPr>
          <p:nvPr>
            <p:ph type="title"/>
          </p:nvPr>
        </p:nvSpPr>
        <p:spPr>
          <a:xfrm>
            <a:off x="564542" y="414571"/>
            <a:ext cx="4587240" cy="471593"/>
          </a:xfrm>
        </p:spPr>
        <p:txBody>
          <a:bodyPr/>
          <a:lstStyle/>
          <a:p>
            <a:r>
              <a:rPr lang="en-IN" dirty="0">
                <a:solidFill>
                  <a:srgbClr val="170282"/>
                </a:solidFill>
              </a:rPr>
              <a:t>Model Predictive Control</a:t>
            </a:r>
          </a:p>
        </p:txBody>
      </p:sp>
      <p:sp>
        <p:nvSpPr>
          <p:cNvPr id="3" name="Content Placeholder 2">
            <a:extLst>
              <a:ext uri="{FF2B5EF4-FFF2-40B4-BE49-F238E27FC236}">
                <a16:creationId xmlns:a16="http://schemas.microsoft.com/office/drawing/2014/main" id="{5283DCC9-6CE5-2F96-66E6-7923E78B381B}"/>
              </a:ext>
            </a:extLst>
          </p:cNvPr>
          <p:cNvSpPr>
            <a:spLocks noGrp="1"/>
          </p:cNvSpPr>
          <p:nvPr>
            <p:ph idx="1"/>
          </p:nvPr>
        </p:nvSpPr>
        <p:spPr>
          <a:xfrm>
            <a:off x="254441" y="634716"/>
            <a:ext cx="10344648" cy="5588567"/>
          </a:xfrm>
        </p:spPr>
        <p:txBody>
          <a:bodyPr>
            <a:normAutofit/>
          </a:bodyPr>
          <a:lstStyle/>
          <a:p>
            <a:pPr marL="0" indent="0">
              <a:buNone/>
            </a:pPr>
            <a:endParaRPr lang="en-US" sz="1800" dirty="0"/>
          </a:p>
          <a:p>
            <a:endParaRPr lang="en-US" sz="1800" dirty="0"/>
          </a:p>
          <a:p>
            <a:r>
              <a:rPr lang="en-US" sz="1800" dirty="0"/>
              <a:t> Here i</a:t>
            </a:r>
            <a:r>
              <a:rPr lang="en-US" sz="1800" baseline="-25000" dirty="0"/>
              <a:t>d </a:t>
            </a:r>
            <a:r>
              <a:rPr lang="en-US" sz="1800" dirty="0"/>
              <a:t>produces main flux in the machine and i</a:t>
            </a:r>
            <a:r>
              <a:rPr lang="en-US" sz="1800" baseline="-25000" dirty="0"/>
              <a:t>d</a:t>
            </a:r>
            <a:r>
              <a:rPr lang="en-US" sz="1800" dirty="0"/>
              <a:t> reference is set to zero.</a:t>
            </a:r>
          </a:p>
          <a:p>
            <a:r>
              <a:rPr lang="en-US" sz="1800" dirty="0"/>
              <a:t>PI controller is used for speed control and generates the reference for the torque-producing current      </a:t>
            </a:r>
          </a:p>
          <a:p>
            <a:r>
              <a:rPr lang="en-US" sz="1800" dirty="0"/>
              <a:t>The electric torque produced by the machine depends on the flux magnitude and the quadrature component of the stator current vector and given by :</a:t>
            </a:r>
          </a:p>
          <a:p>
            <a:endParaRPr lang="en-US" sz="1800" baseline="-25000" dirty="0"/>
          </a:p>
          <a:p>
            <a:endParaRPr lang="en-US" sz="1800" baseline="-25000" dirty="0"/>
          </a:p>
          <a:p>
            <a:r>
              <a:rPr lang="en-US" sz="1800" dirty="0"/>
              <a:t>The mechanical rotor dynamics are described by the equation:</a:t>
            </a:r>
          </a:p>
          <a:p>
            <a:endParaRPr lang="en-US" sz="1800" baseline="-25000" dirty="0"/>
          </a:p>
        </p:txBody>
      </p:sp>
      <p:sp>
        <p:nvSpPr>
          <p:cNvPr id="4" name="Slide Number Placeholder 3">
            <a:extLst>
              <a:ext uri="{FF2B5EF4-FFF2-40B4-BE49-F238E27FC236}">
                <a16:creationId xmlns:a16="http://schemas.microsoft.com/office/drawing/2014/main" id="{2364268B-AB01-32F3-DE57-5BB03B2734BF}"/>
              </a:ext>
            </a:extLst>
          </p:cNvPr>
          <p:cNvSpPr>
            <a:spLocks noGrp="1"/>
          </p:cNvSpPr>
          <p:nvPr>
            <p:ph type="sldNum" sz="quarter" idx="12"/>
          </p:nvPr>
        </p:nvSpPr>
        <p:spPr/>
        <p:txBody>
          <a:bodyPr/>
          <a:lstStyle/>
          <a:p>
            <a:fld id="{241BFB48-7771-40F1-A34B-9DBE21ACBAA3}" type="slidenum">
              <a:rPr lang="en-US" smtClean="0"/>
              <a:pPr/>
              <a:t>5</a:t>
            </a:fld>
            <a:endParaRPr lang="en-US" dirty="0"/>
          </a:p>
        </p:txBody>
      </p:sp>
      <p:pic>
        <p:nvPicPr>
          <p:cNvPr id="9" name="Picture 2" descr="IIT Bhubaneswar - Wikipedia">
            <a:extLst>
              <a:ext uri="{FF2B5EF4-FFF2-40B4-BE49-F238E27FC236}">
                <a16:creationId xmlns:a16="http://schemas.microsoft.com/office/drawing/2014/main" id="{3DBEABDD-6901-EBCA-ACF1-E4CFD51BBF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5051" y="19030"/>
            <a:ext cx="851769" cy="7886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141FD7D5-8845-A6A9-9CE4-90F72D560F4E}"/>
                  </a:ext>
                </a:extLst>
              </p:cNvPr>
              <p:cNvSpPr txBox="1"/>
              <p:nvPr/>
            </p:nvSpPr>
            <p:spPr>
              <a:xfrm>
                <a:off x="3383846" y="2986817"/>
                <a:ext cx="1457835" cy="51860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m:t>
                          </m:r>
                        </m:sub>
                      </m:sSub>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3</m:t>
                          </m:r>
                        </m:num>
                        <m:den>
                          <m:r>
                            <a:rPr lang="en-IN" i="1">
                              <a:latin typeface="Cambria Math" panose="02040503050406030204" pitchFamily="18" charset="0"/>
                            </a:rPr>
                            <m:t>2</m:t>
                          </m:r>
                        </m:den>
                      </m:f>
                      <m:r>
                        <a:rPr lang="en-IN" i="1">
                          <a:latin typeface="Cambria Math" panose="02040503050406030204" pitchFamily="18" charset="0"/>
                        </a:rPr>
                        <m:t>𝑝</m:t>
                      </m:r>
                      <m:sSub>
                        <m:sSubPr>
                          <m:ctrlPr>
                            <a:rPr lang="en-IN" i="1">
                              <a:latin typeface="Cambria Math" panose="02040503050406030204" pitchFamily="18" charset="0"/>
                            </a:rPr>
                          </m:ctrlPr>
                        </m:sSubPr>
                        <m:e>
                          <m:r>
                            <a:rPr lang="en-IN" i="1">
                              <a:latin typeface="Cambria Math" panose="02040503050406030204" pitchFamily="18" charset="0"/>
                            </a:rPr>
                            <m:t>𝜓</m:t>
                          </m:r>
                        </m:e>
                        <m:sub>
                          <m:r>
                            <a:rPr lang="en-IN" i="1">
                              <a:latin typeface="Cambria Math" panose="02040503050406030204" pitchFamily="18" charset="0"/>
                            </a:rPr>
                            <m:t>𝑚</m:t>
                          </m:r>
                        </m:sub>
                      </m:sSub>
                      <m:sSub>
                        <m:sSubPr>
                          <m:ctrlPr>
                            <a:rPr lang="en-IN" i="1">
                              <a:latin typeface="Cambria Math" panose="02040503050406030204" pitchFamily="18" charset="0"/>
                            </a:rPr>
                          </m:ctrlPr>
                        </m:sSubPr>
                        <m:e>
                          <m:r>
                            <a:rPr lang="en-IN" i="1">
                              <a:latin typeface="Cambria Math" panose="02040503050406030204" pitchFamily="18" charset="0"/>
                            </a:rPr>
                            <m:t>𝑖</m:t>
                          </m:r>
                        </m:e>
                        <m:sub>
                          <m:r>
                            <a:rPr lang="en-IN" i="1">
                              <a:latin typeface="Cambria Math" panose="02040503050406030204" pitchFamily="18" charset="0"/>
                            </a:rPr>
                            <m:t>𝑠𝑞</m:t>
                          </m:r>
                        </m:sub>
                      </m:sSub>
                    </m:oMath>
                  </m:oMathPara>
                </a14:m>
                <a:endParaRPr lang="en-IN" dirty="0"/>
              </a:p>
            </p:txBody>
          </p:sp>
        </mc:Choice>
        <mc:Fallback>
          <p:sp>
            <p:nvSpPr>
              <p:cNvPr id="24" name="TextBox 23">
                <a:extLst>
                  <a:ext uri="{FF2B5EF4-FFF2-40B4-BE49-F238E27FC236}">
                    <a16:creationId xmlns:a16="http://schemas.microsoft.com/office/drawing/2014/main" id="{141FD7D5-8845-A6A9-9CE4-90F72D560F4E}"/>
                  </a:ext>
                </a:extLst>
              </p:cNvPr>
              <p:cNvSpPr txBox="1">
                <a:spLocks noRot="1" noChangeAspect="1" noMove="1" noResize="1" noEditPoints="1" noAdjustHandles="1" noChangeArrowheads="1" noChangeShapeType="1" noTextEdit="1"/>
              </p:cNvSpPr>
              <p:nvPr/>
            </p:nvSpPr>
            <p:spPr>
              <a:xfrm>
                <a:off x="3383846" y="2986817"/>
                <a:ext cx="1457835" cy="518604"/>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D1D13A58-EC2E-7DC8-DE20-493413BF9DA7}"/>
                  </a:ext>
                </a:extLst>
              </p:cNvPr>
              <p:cNvSpPr txBox="1"/>
              <p:nvPr/>
            </p:nvSpPr>
            <p:spPr>
              <a:xfrm>
                <a:off x="1367301" y="2039170"/>
                <a:ext cx="323999" cy="29841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Sup>
                        <m:sSubSupPr>
                          <m:ctrlPr>
                            <a:rPr lang="en-IN" i="1" smtClean="0">
                              <a:latin typeface="Cambria Math" panose="02040503050406030204" pitchFamily="18" charset="0"/>
                            </a:rPr>
                          </m:ctrlPr>
                        </m:sSubSupPr>
                        <m:e>
                          <m:r>
                            <a:rPr lang="en-IN" i="1">
                              <a:latin typeface="Cambria Math" panose="02040503050406030204" pitchFamily="18" charset="0"/>
                            </a:rPr>
                            <m:t>𝑖</m:t>
                          </m:r>
                        </m:e>
                        <m:sub>
                          <m:r>
                            <a:rPr lang="en-IN" i="1">
                              <a:latin typeface="Cambria Math" panose="02040503050406030204" pitchFamily="18" charset="0"/>
                            </a:rPr>
                            <m:t>𝑠𝑞</m:t>
                          </m:r>
                        </m:sub>
                        <m:sup>
                          <m:r>
                            <a:rPr lang="en-IN" i="1">
                              <a:latin typeface="Cambria Math" panose="02040503050406030204" pitchFamily="18" charset="0"/>
                            </a:rPr>
                            <m:t>∗</m:t>
                          </m:r>
                        </m:sup>
                      </m:sSubSup>
                    </m:oMath>
                  </m:oMathPara>
                </a14:m>
                <a:endParaRPr lang="en-IN" dirty="0"/>
              </a:p>
            </p:txBody>
          </p:sp>
        </mc:Choice>
        <mc:Fallback>
          <p:sp>
            <p:nvSpPr>
              <p:cNvPr id="5" name="TextBox 4">
                <a:extLst>
                  <a:ext uri="{FF2B5EF4-FFF2-40B4-BE49-F238E27FC236}">
                    <a16:creationId xmlns:a16="http://schemas.microsoft.com/office/drawing/2014/main" id="{D1D13A58-EC2E-7DC8-DE20-493413BF9DA7}"/>
                  </a:ext>
                </a:extLst>
              </p:cNvPr>
              <p:cNvSpPr txBox="1">
                <a:spLocks noRot="1" noChangeAspect="1" noMove="1" noResize="1" noEditPoints="1" noAdjustHandles="1" noChangeArrowheads="1" noChangeShapeType="1" noTextEdit="1"/>
              </p:cNvSpPr>
              <p:nvPr/>
            </p:nvSpPr>
            <p:spPr>
              <a:xfrm>
                <a:off x="1367301" y="2039170"/>
                <a:ext cx="323999" cy="298415"/>
              </a:xfrm>
              <a:prstGeom prst="rect">
                <a:avLst/>
              </a:prstGeom>
              <a:blipFill>
                <a:blip r:embed="rId4"/>
                <a:stretch>
                  <a:fillRect l="-16981" r="-5660" b="-20833"/>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9E45E1D-8AA9-134A-2B7D-3FA15404FF11}"/>
                  </a:ext>
                </a:extLst>
              </p:cNvPr>
              <p:cNvSpPr txBox="1"/>
              <p:nvPr/>
            </p:nvSpPr>
            <p:spPr>
              <a:xfrm>
                <a:off x="3311718" y="4230094"/>
                <a:ext cx="2683940" cy="575094"/>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f>
                        <m:fPr>
                          <m:ctrlPr>
                            <a:rPr lang="en-IN" i="1" smtClean="0">
                              <a:latin typeface="Cambria Math" panose="02040503050406030204" pitchFamily="18" charset="0"/>
                            </a:rPr>
                          </m:ctrlPr>
                        </m:fPr>
                        <m:num>
                          <m:r>
                            <a:rPr lang="en-IN" i="1">
                              <a:latin typeface="Cambria Math" panose="02040503050406030204" pitchFamily="18" charset="0"/>
                            </a:rPr>
                            <m:t>𝑑</m:t>
                          </m:r>
                          <m:sSubSup>
                            <m:sSubSupPr>
                              <m:ctrlPr>
                                <a:rPr lang="en-IN" i="1">
                                  <a:latin typeface="Cambria Math" panose="02040503050406030204" pitchFamily="18" charset="0"/>
                                </a:rPr>
                              </m:ctrlPr>
                            </m:sSubSupPr>
                            <m:e>
                              <m:r>
                                <a:rPr lang="en-IN" i="1">
                                  <a:latin typeface="Cambria Math" panose="02040503050406030204" pitchFamily="18" charset="0"/>
                                </a:rPr>
                                <m:t>𝜔</m:t>
                              </m:r>
                            </m:e>
                            <m:sub>
                              <m:r>
                                <a:rPr lang="en-IN" i="1">
                                  <a:latin typeface="Cambria Math" panose="02040503050406030204" pitchFamily="18" charset="0"/>
                                </a:rPr>
                                <m:t>𝑟</m:t>
                              </m:r>
                            </m:sub>
                            <m:sup>
                              <m:r>
                                <a:rPr lang="en-IN" i="1">
                                  <a:latin typeface="Cambria Math" panose="02040503050406030204" pitchFamily="18" charset="0"/>
                                </a:rPr>
                                <m:t>𝑚</m:t>
                              </m:r>
                            </m:sup>
                          </m:sSubSup>
                        </m:num>
                        <m:den>
                          <m:r>
                            <a:rPr lang="en-IN" i="1">
                              <a:latin typeface="Cambria Math" panose="02040503050406030204" pitchFamily="18" charset="0"/>
                            </a:rPr>
                            <m:t>𝑑𝑡</m:t>
                          </m:r>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1</m:t>
                          </m:r>
                        </m:num>
                        <m:den>
                          <m:r>
                            <a:rPr lang="en-IN" i="1">
                              <a:latin typeface="Cambria Math" panose="02040503050406030204" pitchFamily="18" charset="0"/>
                            </a:rPr>
                            <m:t>𝐽</m:t>
                          </m:r>
                        </m:den>
                      </m:f>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𝑒</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𝑇</m:t>
                              </m:r>
                            </m:e>
                            <m:sub>
                              <m:r>
                                <a:rPr lang="en-IN" i="1">
                                  <a:latin typeface="Cambria Math" panose="02040503050406030204" pitchFamily="18" charset="0"/>
                                </a:rPr>
                                <m:t>𝑙</m:t>
                              </m:r>
                            </m:sub>
                          </m:sSub>
                        </m:e>
                      </m:d>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𝐵</m:t>
                          </m:r>
                        </m:num>
                        <m:den>
                          <m:r>
                            <a:rPr lang="en-IN" i="1">
                              <a:latin typeface="Cambria Math" panose="02040503050406030204" pitchFamily="18" charset="0"/>
                            </a:rPr>
                            <m:t>𝐽</m:t>
                          </m:r>
                        </m:den>
                      </m:f>
                      <m:sSubSup>
                        <m:sSubSupPr>
                          <m:ctrlPr>
                            <a:rPr lang="en-IN" i="1">
                              <a:latin typeface="Cambria Math" panose="02040503050406030204" pitchFamily="18" charset="0"/>
                            </a:rPr>
                          </m:ctrlPr>
                        </m:sSubSupPr>
                        <m:e>
                          <m:r>
                            <a:rPr lang="en-IN" i="1">
                              <a:latin typeface="Cambria Math" panose="02040503050406030204" pitchFamily="18" charset="0"/>
                            </a:rPr>
                            <m:t>𝜔</m:t>
                          </m:r>
                        </m:e>
                        <m:sub>
                          <m:r>
                            <a:rPr lang="en-IN" i="1">
                              <a:latin typeface="Cambria Math" panose="02040503050406030204" pitchFamily="18" charset="0"/>
                            </a:rPr>
                            <m:t>𝑟</m:t>
                          </m:r>
                        </m:sub>
                        <m:sup>
                          <m:r>
                            <a:rPr lang="en-IN" i="1">
                              <a:latin typeface="Cambria Math" panose="02040503050406030204" pitchFamily="18" charset="0"/>
                            </a:rPr>
                            <m:t>𝑚</m:t>
                          </m:r>
                        </m:sup>
                      </m:sSubSup>
                    </m:oMath>
                  </m:oMathPara>
                </a14:m>
                <a:endParaRPr lang="en-IN" dirty="0"/>
              </a:p>
            </p:txBody>
          </p:sp>
        </mc:Choice>
        <mc:Fallback>
          <p:sp>
            <p:nvSpPr>
              <p:cNvPr id="6" name="TextBox 5">
                <a:extLst>
                  <a:ext uri="{FF2B5EF4-FFF2-40B4-BE49-F238E27FC236}">
                    <a16:creationId xmlns:a16="http://schemas.microsoft.com/office/drawing/2014/main" id="{49E45E1D-8AA9-134A-2B7D-3FA15404FF11}"/>
                  </a:ext>
                </a:extLst>
              </p:cNvPr>
              <p:cNvSpPr txBox="1">
                <a:spLocks noRot="1" noChangeAspect="1" noMove="1" noResize="1" noEditPoints="1" noAdjustHandles="1" noChangeArrowheads="1" noChangeShapeType="1" noTextEdit="1"/>
              </p:cNvSpPr>
              <p:nvPr/>
            </p:nvSpPr>
            <p:spPr>
              <a:xfrm>
                <a:off x="3311718" y="4230094"/>
                <a:ext cx="2683940" cy="575094"/>
              </a:xfrm>
              <a:prstGeom prst="rect">
                <a:avLst/>
              </a:prstGeom>
              <a:blipFill>
                <a:blip r:embed="rId5"/>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66906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5B338D-D54F-A93A-060C-A2DC488D7F58}"/>
              </a:ext>
            </a:extLst>
          </p:cNvPr>
          <p:cNvSpPr>
            <a:spLocks noGrp="1"/>
          </p:cNvSpPr>
          <p:nvPr>
            <p:ph type="sldNum" sz="quarter" idx="12"/>
          </p:nvPr>
        </p:nvSpPr>
        <p:spPr/>
        <p:txBody>
          <a:bodyPr/>
          <a:lstStyle/>
          <a:p>
            <a:fld id="{241BFB48-7771-40F1-A34B-9DBE21ACBAA3}" type="slidenum">
              <a:rPr lang="en-US" smtClean="0"/>
              <a:pPr/>
              <a:t>6</a:t>
            </a:fld>
            <a:endParaRPr lang="en-US" dirty="0"/>
          </a:p>
        </p:txBody>
      </p:sp>
      <p:sp>
        <p:nvSpPr>
          <p:cNvPr id="8" name="Rectangle 1">
            <a:extLst>
              <a:ext uri="{FF2B5EF4-FFF2-40B4-BE49-F238E27FC236}">
                <a16:creationId xmlns:a16="http://schemas.microsoft.com/office/drawing/2014/main" id="{91831A51-B461-4935-F3E4-4BF8CB01950B}"/>
              </a:ext>
            </a:extLst>
          </p:cNvPr>
          <p:cNvSpPr>
            <a:spLocks noChangeArrowheads="1"/>
          </p:cNvSpPr>
          <p:nvPr/>
        </p:nvSpPr>
        <p:spPr bwMode="auto">
          <a:xfrm>
            <a:off x="363640" y="715022"/>
            <a:ext cx="6467134" cy="4914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US" sz="2000" dirty="0"/>
              <a:t>Common Mode Voltage(CMV) is defined as electrical potential measured from the load neutral point relative to the midpoint of DC link.</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 </a:t>
            </a:r>
            <a:r>
              <a:rPr lang="en-US" sz="2000" dirty="0" err="1"/>
              <a:t>S</a:t>
            </a:r>
            <a:r>
              <a:rPr lang="en-US" sz="2000" b="1" baseline="-25000" dirty="0" err="1"/>
              <a:t>x</a:t>
            </a:r>
            <a:r>
              <a:rPr lang="en-US" sz="2000" b="1" baseline="-25000" dirty="0"/>
              <a:t> </a:t>
            </a:r>
            <a:r>
              <a:rPr lang="en-US" sz="2000" dirty="0"/>
              <a:t>is 1 if upper switch is ON and 0 otherwise, so there </a:t>
            </a:r>
          </a:p>
          <a:p>
            <a:r>
              <a:rPr lang="en-US" sz="2000" dirty="0"/>
              <a:t>       are 8 possible voltage vectors.</a:t>
            </a:r>
          </a:p>
          <a:p>
            <a:pPr marL="342900" indent="-342900">
              <a:buFont typeface="Arial" panose="020B0604020202020204" pitchFamily="34" charset="0"/>
              <a:buChar char="•"/>
            </a:pPr>
            <a:endParaRPr lang="en-US" sz="2000" b="1" baseline="-25000" dirty="0"/>
          </a:p>
          <a:p>
            <a:pPr marL="342900" indent="-342900">
              <a:buFont typeface="Arial" panose="020B0604020202020204" pitchFamily="34" charset="0"/>
              <a:buChar char="•"/>
            </a:pPr>
            <a:r>
              <a:rPr lang="en-US" sz="2000" b="1" dirty="0"/>
              <a:t> </a:t>
            </a:r>
          </a:p>
          <a:p>
            <a:pPr lvl="1"/>
            <a:endParaRPr lang="en-US" sz="2000" dirty="0"/>
          </a:p>
          <a:p>
            <a:endParaRPr lang="en-US" sz="2000" dirty="0"/>
          </a:p>
          <a:p>
            <a:endParaRPr lang="en-US" sz="2000" dirty="0"/>
          </a:p>
          <a:p>
            <a:pPr marL="342900" indent="-342900">
              <a:buFont typeface="Arial" panose="020B0604020202020204" pitchFamily="34" charset="0"/>
              <a:buChar char="•"/>
            </a:pPr>
            <a:endParaRPr lang="en-US" sz="2000" dirty="0"/>
          </a:p>
          <a:p>
            <a:endParaRPr lang="en-US" sz="2000" dirty="0"/>
          </a:p>
          <a:p>
            <a:endParaRPr lang="en-US" sz="2000" dirty="0"/>
          </a:p>
        </p:txBody>
      </p:sp>
      <p:pic>
        <p:nvPicPr>
          <p:cNvPr id="6" name="Picture 2" descr="IIT Bhubaneswar - Wikipedia">
            <a:extLst>
              <a:ext uri="{FF2B5EF4-FFF2-40B4-BE49-F238E27FC236}">
                <a16:creationId xmlns:a16="http://schemas.microsoft.com/office/drawing/2014/main" id="{1BBA6B99-1C07-7BB6-22F8-8F4F3F227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sp>
        <p:nvSpPr>
          <p:cNvPr id="10" name="Title 9">
            <a:extLst>
              <a:ext uri="{FF2B5EF4-FFF2-40B4-BE49-F238E27FC236}">
                <a16:creationId xmlns:a16="http://schemas.microsoft.com/office/drawing/2014/main" id="{1A9930F9-56C4-360C-7098-CF7AA40C4ABA}"/>
              </a:ext>
            </a:extLst>
          </p:cNvPr>
          <p:cNvSpPr>
            <a:spLocks noGrp="1"/>
          </p:cNvSpPr>
          <p:nvPr>
            <p:ph type="ctrTitle"/>
          </p:nvPr>
        </p:nvSpPr>
        <p:spPr>
          <a:xfrm>
            <a:off x="-370115" y="-69911"/>
            <a:ext cx="9144000" cy="701449"/>
          </a:xfrm>
        </p:spPr>
        <p:txBody>
          <a:bodyPr>
            <a:normAutofit/>
          </a:bodyPr>
          <a:lstStyle/>
          <a:p>
            <a:r>
              <a:rPr lang="en-IN" sz="3600" dirty="0">
                <a:solidFill>
                  <a:srgbClr val="170282"/>
                </a:solidFill>
              </a:rPr>
              <a:t>What is Common Mode Voltage ?</a:t>
            </a:r>
          </a:p>
        </p:txBody>
      </p:sp>
      <p:pic>
        <p:nvPicPr>
          <p:cNvPr id="15" name="Picture 14">
            <a:extLst>
              <a:ext uri="{FF2B5EF4-FFF2-40B4-BE49-F238E27FC236}">
                <a16:creationId xmlns:a16="http://schemas.microsoft.com/office/drawing/2014/main" id="{E9782A99-7252-C678-BABA-4ADEBC4BCCFD}"/>
              </a:ext>
            </a:extLst>
          </p:cNvPr>
          <p:cNvPicPr>
            <a:picLocks noChangeAspect="1"/>
          </p:cNvPicPr>
          <p:nvPr/>
        </p:nvPicPr>
        <p:blipFill>
          <a:blip r:embed="rId3"/>
          <a:stretch>
            <a:fillRect/>
          </a:stretch>
        </p:blipFill>
        <p:spPr>
          <a:xfrm>
            <a:off x="6309052" y="1335934"/>
            <a:ext cx="5929993" cy="4132194"/>
          </a:xfrm>
          <a:prstGeom prst="rect">
            <a:avLst/>
          </a:prstGeom>
        </p:spPr>
      </p:pic>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9424F3D8-79E0-18F4-24BB-C2B9B5149617}"/>
                  </a:ext>
                </a:extLst>
              </p:cNvPr>
              <p:cNvSpPr txBox="1"/>
              <p:nvPr/>
            </p:nvSpPr>
            <p:spPr>
              <a:xfrm>
                <a:off x="803600" y="1901849"/>
                <a:ext cx="4997586" cy="518540"/>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𝑐𝑚</m:t>
                          </m:r>
                        </m:sub>
                      </m:sSub>
                      <m:r>
                        <a:rPr lang="en-IN" i="1">
                          <a:latin typeface="Cambria Math" panose="02040503050406030204" pitchFamily="18" charset="0"/>
                        </a:rPr>
                        <m:t>=</m:t>
                      </m:r>
                      <m:r>
                        <a:rPr lang="en-IN" b="0" i="1" smtClean="0">
                          <a:latin typeface="Cambria Math" panose="02040503050406030204" pitchFamily="18" charset="0"/>
                        </a:rPr>
                        <m:t> </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𝑎𝑜</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𝑏𝑜</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𝑐𝑜</m:t>
                              </m:r>
                            </m:sub>
                          </m:sSub>
                        </m:num>
                        <m:den>
                          <m:r>
                            <a:rPr lang="en-IN" i="1">
                              <a:latin typeface="Cambria Math" panose="02040503050406030204" pitchFamily="18" charset="0"/>
                            </a:rPr>
                            <m:t>3</m:t>
                          </m:r>
                          <m:r>
                            <a:rPr lang="en-IN" b="0" i="1" smtClean="0">
                              <a:latin typeface="Cambria Math" panose="02040503050406030204" pitchFamily="18" charset="0"/>
                            </a:rPr>
                            <m:t> </m:t>
                          </m:r>
                        </m:den>
                      </m:f>
                      <m:r>
                        <a:rPr lang="en-IN" b="0" i="1" smtClean="0">
                          <a:latin typeface="Cambria Math" panose="02040503050406030204" pitchFamily="18" charset="0"/>
                        </a:rPr>
                        <m:t> </m:t>
                      </m:r>
                      <m:r>
                        <a:rPr lang="en-IN" i="1">
                          <a:latin typeface="Cambria Math" panose="02040503050406030204" pitchFamily="18" charset="0"/>
                        </a:rPr>
                        <m:t>=</m:t>
                      </m:r>
                      <m:r>
                        <a:rPr lang="en-IN" b="0" i="1" smtClean="0">
                          <a:latin typeface="Cambria Math" panose="02040503050406030204" pitchFamily="18" charset="0"/>
                        </a:rPr>
                        <m:t> </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𝑑𝑐</m:t>
                              </m:r>
                            </m:sub>
                          </m:sSub>
                        </m:num>
                        <m:den>
                          <m:r>
                            <a:rPr lang="en-IN" i="1">
                              <a:latin typeface="Cambria Math" panose="02040503050406030204" pitchFamily="18" charset="0"/>
                            </a:rPr>
                            <m:t>3</m:t>
                          </m:r>
                        </m:den>
                      </m:f>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𝑎</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𝑏</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𝑐</m:t>
                              </m:r>
                            </m:sub>
                          </m:sSub>
                        </m:e>
                      </m:d>
                      <m:r>
                        <a:rPr lang="en-IN" i="1">
                          <a:latin typeface="Cambria Math" panose="02040503050406030204" pitchFamily="18" charset="0"/>
                        </a:rPr>
                        <m:t>−</m:t>
                      </m:r>
                      <m:f>
                        <m:fPr>
                          <m:ctrlPr>
                            <a:rPr lang="en-IN" i="1">
                              <a:latin typeface="Cambria Math" panose="02040503050406030204" pitchFamily="18" charset="0"/>
                            </a:rPr>
                          </m:ctrlPr>
                        </m:fPr>
                        <m:num>
                          <m:sSub>
                            <m:sSubPr>
                              <m:ctrlPr>
                                <a:rPr lang="en-IN" i="1">
                                  <a:latin typeface="Cambria Math" panose="02040503050406030204" pitchFamily="18" charset="0"/>
                                </a:rPr>
                              </m:ctrlPr>
                            </m:sSubPr>
                            <m:e>
                              <m:r>
                                <a:rPr lang="en-IN" i="1">
                                  <a:latin typeface="Cambria Math" panose="02040503050406030204" pitchFamily="18" charset="0"/>
                                </a:rPr>
                                <m:t>𝑉</m:t>
                              </m:r>
                            </m:e>
                            <m:sub>
                              <m:r>
                                <a:rPr lang="en-IN" i="1">
                                  <a:latin typeface="Cambria Math" panose="02040503050406030204" pitchFamily="18" charset="0"/>
                                </a:rPr>
                                <m:t>𝑑𝑐</m:t>
                              </m:r>
                            </m:sub>
                          </m:sSub>
                        </m:num>
                        <m:den>
                          <m:r>
                            <a:rPr lang="en-IN" i="1">
                              <a:latin typeface="Cambria Math" panose="02040503050406030204" pitchFamily="18" charset="0"/>
                            </a:rPr>
                            <m:t>2</m:t>
                          </m:r>
                        </m:den>
                      </m:f>
                    </m:oMath>
                  </m:oMathPara>
                </a14:m>
                <a:endParaRPr lang="en-IN" dirty="0"/>
              </a:p>
            </p:txBody>
          </p:sp>
        </mc:Choice>
        <mc:Fallback>
          <p:sp>
            <p:nvSpPr>
              <p:cNvPr id="29" name="TextBox 28">
                <a:extLst>
                  <a:ext uri="{FF2B5EF4-FFF2-40B4-BE49-F238E27FC236}">
                    <a16:creationId xmlns:a16="http://schemas.microsoft.com/office/drawing/2014/main" id="{9424F3D8-79E0-18F4-24BB-C2B9B5149617}"/>
                  </a:ext>
                </a:extLst>
              </p:cNvPr>
              <p:cNvSpPr txBox="1">
                <a:spLocks noRot="1" noChangeAspect="1" noMove="1" noResize="1" noEditPoints="1" noAdjustHandles="1" noChangeArrowheads="1" noChangeShapeType="1" noTextEdit="1"/>
              </p:cNvSpPr>
              <p:nvPr/>
            </p:nvSpPr>
            <p:spPr>
              <a:xfrm>
                <a:off x="803600" y="1901849"/>
                <a:ext cx="4997586" cy="518540"/>
              </a:xfrm>
              <a:prstGeom prst="rect">
                <a:avLst/>
              </a:prstGeom>
              <a:blipFill>
                <a:blip r:embed="rId4"/>
                <a:stretch>
                  <a:fillRect/>
                </a:stretch>
              </a:blipFill>
            </p:spPr>
            <p:txBody>
              <a:bodyPr/>
              <a:lstStyle/>
              <a:p>
                <a:r>
                  <a:rPr lang="en-IN">
                    <a:noFill/>
                  </a:rPr>
                  <a:t> </a:t>
                </a:r>
              </a:p>
            </p:txBody>
          </p:sp>
        </mc:Fallback>
      </mc:AlternateContent>
      <p:pic>
        <p:nvPicPr>
          <p:cNvPr id="33" name="Picture 32">
            <a:extLst>
              <a:ext uri="{FF2B5EF4-FFF2-40B4-BE49-F238E27FC236}">
                <a16:creationId xmlns:a16="http://schemas.microsoft.com/office/drawing/2014/main" id="{9746FC27-F004-8B4B-33CF-1E7B4ACCEB84}"/>
              </a:ext>
            </a:extLst>
          </p:cNvPr>
          <p:cNvPicPr>
            <a:picLocks noChangeAspect="1"/>
          </p:cNvPicPr>
          <p:nvPr/>
        </p:nvPicPr>
        <p:blipFill>
          <a:blip r:embed="rId5"/>
          <a:stretch>
            <a:fillRect/>
          </a:stretch>
        </p:blipFill>
        <p:spPr>
          <a:xfrm>
            <a:off x="845322" y="3429000"/>
            <a:ext cx="4315427" cy="2791215"/>
          </a:xfrm>
          <a:prstGeom prst="rect">
            <a:avLst/>
          </a:prstGeom>
        </p:spPr>
      </p:pic>
    </p:spTree>
    <p:extLst>
      <p:ext uri="{BB962C8B-B14F-4D97-AF65-F5344CB8AC3E}">
        <p14:creationId xmlns:p14="http://schemas.microsoft.com/office/powerpoint/2010/main" val="2678674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ECA35-D046-C4E9-6601-C85BF51BEF66}"/>
              </a:ext>
            </a:extLst>
          </p:cNvPr>
          <p:cNvSpPr>
            <a:spLocks noGrp="1"/>
          </p:cNvSpPr>
          <p:nvPr>
            <p:ph type="title"/>
          </p:nvPr>
        </p:nvSpPr>
        <p:spPr/>
        <p:txBody>
          <a:bodyPr/>
          <a:lstStyle/>
          <a:p>
            <a:r>
              <a:rPr lang="en-IN" sz="3200" dirty="0">
                <a:solidFill>
                  <a:srgbClr val="170282"/>
                </a:solidFill>
              </a:rPr>
              <a:t>Motivation and Problem Statement</a:t>
            </a:r>
          </a:p>
        </p:txBody>
      </p:sp>
      <p:sp>
        <p:nvSpPr>
          <p:cNvPr id="3" name="Content Placeholder 2">
            <a:extLst>
              <a:ext uri="{FF2B5EF4-FFF2-40B4-BE49-F238E27FC236}">
                <a16:creationId xmlns:a16="http://schemas.microsoft.com/office/drawing/2014/main" id="{78925E2D-B3FB-C4D7-CE6B-05D10EFB1983}"/>
              </a:ext>
            </a:extLst>
          </p:cNvPr>
          <p:cNvSpPr>
            <a:spLocks noGrp="1"/>
          </p:cNvSpPr>
          <p:nvPr>
            <p:ph idx="1"/>
          </p:nvPr>
        </p:nvSpPr>
        <p:spPr>
          <a:xfrm>
            <a:off x="10650" y="1440437"/>
            <a:ext cx="6643243" cy="4388863"/>
          </a:xfrm>
        </p:spPr>
        <p:txBody>
          <a:bodyPr>
            <a:normAutofit/>
          </a:bodyPr>
          <a:lstStyle/>
          <a:p>
            <a:r>
              <a:rPr lang="en-US" sz="2000" b="1" dirty="0"/>
              <a:t>Challenges in PMSM Drives:</a:t>
            </a:r>
            <a:endParaRPr lang="en-US" sz="2000" dirty="0"/>
          </a:p>
          <a:p>
            <a:pPr lvl="1"/>
            <a:r>
              <a:rPr lang="en-US" sz="2000" b="1" dirty="0"/>
              <a:t>Common-mode voltage</a:t>
            </a:r>
            <a:r>
              <a:rPr lang="en-US" sz="2000" dirty="0"/>
              <a:t> induces bearing currents and shaft voltages, and when coupled with parasitic capacitances, leads to EMI/EMC issues that degrade motor reliability.</a:t>
            </a:r>
          </a:p>
          <a:p>
            <a:pPr lvl="1"/>
            <a:r>
              <a:rPr lang="en-US" sz="2000" b="1" dirty="0"/>
              <a:t>Switching Losses</a:t>
            </a:r>
            <a:r>
              <a:rPr lang="en-US" sz="2000" dirty="0"/>
              <a:t> in power electronic devices (MOSFETs/IGBTs) leads to heat generation and limits device lifetime.</a:t>
            </a:r>
          </a:p>
          <a:p>
            <a:pPr marL="457200" lvl="1" indent="0">
              <a:buNone/>
            </a:pPr>
            <a:endParaRPr lang="en-US" sz="2000" dirty="0"/>
          </a:p>
          <a:p>
            <a:r>
              <a:rPr lang="en-US" sz="2000" b="1" dirty="0"/>
              <a:t>The Core Problem:</a:t>
            </a:r>
            <a:r>
              <a:rPr lang="en-US" sz="2000" dirty="0"/>
              <a:t> Reducing one (e.g. CMV) often worsens the other (e.g. switching losses ).</a:t>
            </a:r>
          </a:p>
          <a:p>
            <a:endParaRPr lang="en-US" sz="2000" dirty="0"/>
          </a:p>
          <a:p>
            <a:endParaRPr lang="en-IN" dirty="0"/>
          </a:p>
        </p:txBody>
      </p:sp>
      <p:sp>
        <p:nvSpPr>
          <p:cNvPr id="4" name="Slide Number Placeholder 3">
            <a:extLst>
              <a:ext uri="{FF2B5EF4-FFF2-40B4-BE49-F238E27FC236}">
                <a16:creationId xmlns:a16="http://schemas.microsoft.com/office/drawing/2014/main" id="{D71AE3B3-26EA-AE07-E7CB-48F3661CFCAE}"/>
              </a:ext>
            </a:extLst>
          </p:cNvPr>
          <p:cNvSpPr>
            <a:spLocks noGrp="1"/>
          </p:cNvSpPr>
          <p:nvPr>
            <p:ph type="sldNum" sz="quarter" idx="12"/>
          </p:nvPr>
        </p:nvSpPr>
        <p:spPr/>
        <p:txBody>
          <a:bodyPr/>
          <a:lstStyle/>
          <a:p>
            <a:fld id="{241BFB48-7771-40F1-A34B-9DBE21ACBAA3}" type="slidenum">
              <a:rPr lang="en-US" smtClean="0"/>
              <a:pPr/>
              <a:t>7</a:t>
            </a:fld>
            <a:endParaRPr lang="en-US" dirty="0"/>
          </a:p>
        </p:txBody>
      </p:sp>
      <p:pic>
        <p:nvPicPr>
          <p:cNvPr id="6" name="Picture 5">
            <a:extLst>
              <a:ext uri="{FF2B5EF4-FFF2-40B4-BE49-F238E27FC236}">
                <a16:creationId xmlns:a16="http://schemas.microsoft.com/office/drawing/2014/main" id="{F52AD8B9-1754-9485-5605-5529B2563F48}"/>
              </a:ext>
            </a:extLst>
          </p:cNvPr>
          <p:cNvPicPr>
            <a:picLocks noChangeAspect="1"/>
          </p:cNvPicPr>
          <p:nvPr/>
        </p:nvPicPr>
        <p:blipFill>
          <a:blip r:embed="rId2"/>
          <a:stretch>
            <a:fillRect/>
          </a:stretch>
        </p:blipFill>
        <p:spPr>
          <a:xfrm>
            <a:off x="6653893" y="1724173"/>
            <a:ext cx="5244193" cy="3174009"/>
          </a:xfrm>
          <a:prstGeom prst="rect">
            <a:avLst/>
          </a:prstGeom>
        </p:spPr>
      </p:pic>
      <p:pic>
        <p:nvPicPr>
          <p:cNvPr id="7" name="Picture 2" descr="IIT Bhubaneswar - Wikipedia">
            <a:extLst>
              <a:ext uri="{FF2B5EF4-FFF2-40B4-BE49-F238E27FC236}">
                <a16:creationId xmlns:a16="http://schemas.microsoft.com/office/drawing/2014/main" id="{AB9E55A7-866E-6C62-98B0-A12D75A926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01000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BE6F-82CB-6EBB-E3A8-B15262D92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F04F3-06E9-F16E-DB88-402E549BA861}"/>
              </a:ext>
            </a:extLst>
          </p:cNvPr>
          <p:cNvSpPr>
            <a:spLocks noGrp="1"/>
          </p:cNvSpPr>
          <p:nvPr>
            <p:ph type="title"/>
          </p:nvPr>
        </p:nvSpPr>
        <p:spPr>
          <a:xfrm>
            <a:off x="-98707" y="421059"/>
            <a:ext cx="7159416" cy="471593"/>
          </a:xfrm>
        </p:spPr>
        <p:txBody>
          <a:bodyPr/>
          <a:lstStyle/>
          <a:p>
            <a:r>
              <a:rPr lang="en-IN" b="1" dirty="0">
                <a:solidFill>
                  <a:schemeClr val="accent1">
                    <a:lumMod val="75000"/>
                  </a:schemeClr>
                </a:solidFill>
              </a:rPr>
              <a:t>Hybrid Model Predictive Control</a:t>
            </a:r>
          </a:p>
        </p:txBody>
      </p:sp>
      <p:sp>
        <p:nvSpPr>
          <p:cNvPr id="5" name="Content Placeholder 4">
            <a:extLst>
              <a:ext uri="{FF2B5EF4-FFF2-40B4-BE49-F238E27FC236}">
                <a16:creationId xmlns:a16="http://schemas.microsoft.com/office/drawing/2014/main" id="{ED66EE96-0683-EC7B-FF06-7BACDC424878}"/>
              </a:ext>
            </a:extLst>
          </p:cNvPr>
          <p:cNvSpPr>
            <a:spLocks noGrp="1"/>
          </p:cNvSpPr>
          <p:nvPr>
            <p:ph idx="1"/>
          </p:nvPr>
        </p:nvSpPr>
        <p:spPr>
          <a:xfrm>
            <a:off x="259101" y="1476351"/>
            <a:ext cx="7351643" cy="4544637"/>
          </a:xfrm>
        </p:spPr>
        <p:txBody>
          <a:bodyPr>
            <a:normAutofit/>
          </a:bodyPr>
          <a:lstStyle/>
          <a:p>
            <a:r>
              <a:rPr lang="en-US" sz="1800" dirty="0"/>
              <a:t>Since the zero-voltage vector generates a CMV of ±Vdc/2, avoiding it can restrict CMV to ±Vdc/6 but often at the cost of degraded tracking.</a:t>
            </a:r>
          </a:p>
          <a:p>
            <a:r>
              <a:rPr lang="en-US" sz="1800" dirty="0"/>
              <a:t>To mitigate CMV, both hardware and software-based approaches have been studied. Hardware methods usually rely on filters, while software based MPC strategies aim to reduce CMV without extra components.</a:t>
            </a:r>
            <a:endParaRPr lang="en-US" sz="1800" b="1" dirty="0"/>
          </a:p>
          <a:p>
            <a:r>
              <a:rPr lang="en-IN" sz="1800" b="1" dirty="0"/>
              <a:t> </a:t>
            </a:r>
            <a:r>
              <a:rPr lang="en-IN" sz="1800" dirty="0"/>
              <a:t>To improve tracking while limiting CMV to </a:t>
            </a:r>
            <a:r>
              <a:rPr lang="en-US" sz="1800" dirty="0"/>
              <a:t>±Vdc/6 ,we can use virtual zero vectors without using extra components.</a:t>
            </a:r>
          </a:p>
          <a:p>
            <a:r>
              <a:rPr lang="en-US" sz="1800" dirty="0"/>
              <a:t>The virtual zero vector (VZV) is synthesized using the concept of volt second equivalence, where the pair of opposite active vectors is selected based on the previously applied active vector.</a:t>
            </a:r>
            <a:endParaRPr lang="en-US" sz="1800" b="1" dirty="0"/>
          </a:p>
        </p:txBody>
      </p:sp>
      <p:sp>
        <p:nvSpPr>
          <p:cNvPr id="4" name="Slide Number Placeholder 3">
            <a:extLst>
              <a:ext uri="{FF2B5EF4-FFF2-40B4-BE49-F238E27FC236}">
                <a16:creationId xmlns:a16="http://schemas.microsoft.com/office/drawing/2014/main" id="{07B1685F-B69B-B6A5-358C-95CF9C622BD8}"/>
              </a:ext>
            </a:extLst>
          </p:cNvPr>
          <p:cNvSpPr>
            <a:spLocks noGrp="1"/>
          </p:cNvSpPr>
          <p:nvPr>
            <p:ph type="sldNum" sz="quarter" idx="12"/>
          </p:nvPr>
        </p:nvSpPr>
        <p:spPr/>
        <p:txBody>
          <a:bodyPr/>
          <a:lstStyle/>
          <a:p>
            <a:fld id="{241BFB48-7771-40F1-A34B-9DBE21ACBAA3}" type="slidenum">
              <a:rPr lang="en-US" smtClean="0"/>
              <a:pPr/>
              <a:t>8</a:t>
            </a:fld>
            <a:endParaRPr lang="en-US" dirty="0"/>
          </a:p>
        </p:txBody>
      </p:sp>
      <p:pic>
        <p:nvPicPr>
          <p:cNvPr id="8" name="Picture 7">
            <a:extLst>
              <a:ext uri="{FF2B5EF4-FFF2-40B4-BE49-F238E27FC236}">
                <a16:creationId xmlns:a16="http://schemas.microsoft.com/office/drawing/2014/main" id="{68AEADAC-4645-4679-5C5D-81B364869341}"/>
              </a:ext>
            </a:extLst>
          </p:cNvPr>
          <p:cNvPicPr>
            <a:picLocks noChangeAspect="1"/>
          </p:cNvPicPr>
          <p:nvPr/>
        </p:nvPicPr>
        <p:blipFill>
          <a:blip r:embed="rId2"/>
          <a:stretch>
            <a:fillRect/>
          </a:stretch>
        </p:blipFill>
        <p:spPr>
          <a:xfrm>
            <a:off x="7999013" y="1122901"/>
            <a:ext cx="3291840" cy="1228896"/>
          </a:xfrm>
          <a:prstGeom prst="rect">
            <a:avLst/>
          </a:prstGeom>
        </p:spPr>
      </p:pic>
      <p:pic>
        <p:nvPicPr>
          <p:cNvPr id="12" name="Picture 11">
            <a:extLst>
              <a:ext uri="{FF2B5EF4-FFF2-40B4-BE49-F238E27FC236}">
                <a16:creationId xmlns:a16="http://schemas.microsoft.com/office/drawing/2014/main" id="{B24F28F0-4D24-D658-6A99-3DFC96A216CA}"/>
              </a:ext>
            </a:extLst>
          </p:cNvPr>
          <p:cNvPicPr>
            <a:picLocks noChangeAspect="1"/>
          </p:cNvPicPr>
          <p:nvPr/>
        </p:nvPicPr>
        <p:blipFill>
          <a:blip r:embed="rId3"/>
          <a:stretch>
            <a:fillRect/>
          </a:stretch>
        </p:blipFill>
        <p:spPr>
          <a:xfrm>
            <a:off x="7610744" y="2178669"/>
            <a:ext cx="4286729" cy="3139999"/>
          </a:xfrm>
          <a:prstGeom prst="rect">
            <a:avLst/>
          </a:prstGeom>
        </p:spPr>
      </p:pic>
      <p:sp>
        <p:nvSpPr>
          <p:cNvPr id="13" name="TextBox 12">
            <a:extLst>
              <a:ext uri="{FF2B5EF4-FFF2-40B4-BE49-F238E27FC236}">
                <a16:creationId xmlns:a16="http://schemas.microsoft.com/office/drawing/2014/main" id="{1A6EA23C-A078-8B08-A6D2-439B13761E30}"/>
              </a:ext>
            </a:extLst>
          </p:cNvPr>
          <p:cNvSpPr txBox="1"/>
          <p:nvPr/>
        </p:nvSpPr>
        <p:spPr>
          <a:xfrm>
            <a:off x="8203963" y="5221872"/>
            <a:ext cx="3149837" cy="369332"/>
          </a:xfrm>
          <a:prstGeom prst="rect">
            <a:avLst/>
          </a:prstGeom>
          <a:noFill/>
        </p:spPr>
        <p:txBody>
          <a:bodyPr wrap="none" rtlCol="0">
            <a:spAutoFit/>
          </a:bodyPr>
          <a:lstStyle/>
          <a:p>
            <a:r>
              <a:rPr lang="en-IN" dirty="0"/>
              <a:t>Symmetric Switching Sequence</a:t>
            </a:r>
          </a:p>
        </p:txBody>
      </p:sp>
      <p:pic>
        <p:nvPicPr>
          <p:cNvPr id="14" name="Picture 2" descr="IIT Bhubaneswar - Wikipedia">
            <a:extLst>
              <a:ext uri="{FF2B5EF4-FFF2-40B4-BE49-F238E27FC236}">
                <a16:creationId xmlns:a16="http://schemas.microsoft.com/office/drawing/2014/main" id="{C448FB9F-16BB-70E1-1BE8-F6CF933ADB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5545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226C7-49AE-0100-F7BC-E6CF16F1F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E0AB0C-E1C1-1916-EBDD-6F953C519436}"/>
              </a:ext>
            </a:extLst>
          </p:cNvPr>
          <p:cNvSpPr>
            <a:spLocks noGrp="1"/>
          </p:cNvSpPr>
          <p:nvPr>
            <p:ph type="title"/>
          </p:nvPr>
        </p:nvSpPr>
        <p:spPr>
          <a:xfrm>
            <a:off x="-365759" y="365419"/>
            <a:ext cx="7651044" cy="471593"/>
          </a:xfrm>
        </p:spPr>
        <p:txBody>
          <a:bodyPr/>
          <a:lstStyle/>
          <a:p>
            <a:r>
              <a:rPr lang="en-IN" b="1" dirty="0">
                <a:solidFill>
                  <a:schemeClr val="accent1">
                    <a:lumMod val="75000"/>
                  </a:schemeClr>
                </a:solidFill>
              </a:rPr>
              <a:t>Hybrid Model Predictive Control</a:t>
            </a:r>
          </a:p>
        </p:txBody>
      </p:sp>
      <p:sp>
        <p:nvSpPr>
          <p:cNvPr id="5" name="Content Placeholder 4">
            <a:extLst>
              <a:ext uri="{FF2B5EF4-FFF2-40B4-BE49-F238E27FC236}">
                <a16:creationId xmlns:a16="http://schemas.microsoft.com/office/drawing/2014/main" id="{56130B00-DEE2-EDA4-E209-9D6DACEF2EAB}"/>
              </a:ext>
            </a:extLst>
          </p:cNvPr>
          <p:cNvSpPr>
            <a:spLocks noGrp="1"/>
          </p:cNvSpPr>
          <p:nvPr>
            <p:ph idx="1"/>
          </p:nvPr>
        </p:nvSpPr>
        <p:spPr>
          <a:xfrm>
            <a:off x="259101" y="1476351"/>
            <a:ext cx="9449442" cy="4544637"/>
          </a:xfrm>
        </p:spPr>
        <p:txBody>
          <a:bodyPr>
            <a:normAutofit/>
          </a:bodyPr>
          <a:lstStyle/>
          <a:p>
            <a:r>
              <a:rPr lang="en-US" sz="1800" dirty="0"/>
              <a:t>To address switching stress, an additional term is incorporated into the cost function to penalize state transitions that involve multiple commutations relative to the previous switching state.</a:t>
            </a:r>
          </a:p>
          <a:p>
            <a:r>
              <a:rPr lang="en-US" sz="1800" dirty="0"/>
              <a:t>The total number of switch transitions between two consecutive time steps is calculated as:</a:t>
            </a:r>
          </a:p>
          <a:p>
            <a:endParaRPr lang="en-US" sz="1800" dirty="0"/>
          </a:p>
          <a:p>
            <a:pPr marL="0" indent="0">
              <a:buNone/>
            </a:pPr>
            <a:endParaRPr lang="en-US" sz="1800" dirty="0"/>
          </a:p>
          <a:p>
            <a:pPr marL="0" indent="0">
              <a:buNone/>
            </a:pPr>
            <a:endParaRPr lang="en-US" sz="1800" dirty="0"/>
          </a:p>
          <a:p>
            <a:r>
              <a:rPr lang="en-US" sz="1800" dirty="0"/>
              <a:t>A limiting function is then applied and added to the cost function.</a:t>
            </a:r>
          </a:p>
          <a:p>
            <a:r>
              <a:rPr lang="en-US" sz="1800" dirty="0"/>
              <a:t>New cost function is                                   .</a:t>
            </a:r>
          </a:p>
          <a:p>
            <a:r>
              <a:rPr lang="en-US" sz="1800" dirty="0"/>
              <a:t>This approach ensures that transitions involving more than one switch change are avoided.</a:t>
            </a:r>
            <a:endParaRPr lang="en-US" sz="1800" b="1" dirty="0"/>
          </a:p>
        </p:txBody>
      </p:sp>
      <p:sp>
        <p:nvSpPr>
          <p:cNvPr id="4" name="Slide Number Placeholder 3">
            <a:extLst>
              <a:ext uri="{FF2B5EF4-FFF2-40B4-BE49-F238E27FC236}">
                <a16:creationId xmlns:a16="http://schemas.microsoft.com/office/drawing/2014/main" id="{F9922BBA-60CD-A93D-CFC9-6F77F7558C7A}"/>
              </a:ext>
            </a:extLst>
          </p:cNvPr>
          <p:cNvSpPr>
            <a:spLocks noGrp="1"/>
          </p:cNvSpPr>
          <p:nvPr>
            <p:ph type="sldNum" sz="quarter" idx="12"/>
          </p:nvPr>
        </p:nvSpPr>
        <p:spPr/>
        <p:txBody>
          <a:bodyPr/>
          <a:lstStyle/>
          <a:p>
            <a:fld id="{241BFB48-7771-40F1-A34B-9DBE21ACBAA3}" type="slidenum">
              <a:rPr lang="en-US" smtClean="0"/>
              <a:pPr/>
              <a:t>9</a:t>
            </a:fld>
            <a:endParaRPr lang="en-US" dirty="0"/>
          </a:p>
        </p:txBody>
      </p:sp>
      <p:pic>
        <p:nvPicPr>
          <p:cNvPr id="14" name="Picture 2" descr="IIT Bhubaneswar - Wikipedia">
            <a:extLst>
              <a:ext uri="{FF2B5EF4-FFF2-40B4-BE49-F238E27FC236}">
                <a16:creationId xmlns:a16="http://schemas.microsoft.com/office/drawing/2014/main" id="{E7FC845C-B53F-5F1F-ACE4-5A674D0A7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8C34DB6-8DD2-63AA-650D-DC71EE75C292}"/>
                  </a:ext>
                </a:extLst>
              </p:cNvPr>
              <p:cNvSpPr txBox="1"/>
              <p:nvPr/>
            </p:nvSpPr>
            <p:spPr>
              <a:xfrm>
                <a:off x="626067" y="3139763"/>
                <a:ext cx="3308855" cy="708399"/>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l-GR" i="1" smtClean="0">
                              <a:latin typeface="Cambria Math" panose="02040503050406030204" pitchFamily="18" charset="0"/>
                            </a:rPr>
                          </m:ctrlPr>
                        </m:sSubPr>
                        <m:e>
                          <m:r>
                            <a:rPr lang="el-GR" i="1">
                              <a:latin typeface="Cambria Math" panose="02040503050406030204" pitchFamily="18" charset="0"/>
                            </a:rPr>
                            <m:t>𝜆</m:t>
                          </m:r>
                        </m:e>
                        <m:sub>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𝑘</m:t>
                              </m:r>
                            </m:sub>
                          </m:sSub>
                        </m:sub>
                      </m:sSub>
                      <m:r>
                        <a:rPr lang="en-IN" i="1">
                          <a:latin typeface="Cambria Math" panose="02040503050406030204" pitchFamily="18" charset="0"/>
                        </a:rPr>
                        <m:t>=</m:t>
                      </m:r>
                      <m:nary>
                        <m:naryPr>
                          <m:chr m:val="∑"/>
                          <m:supHide m:val="on"/>
                          <m:ctrlPr>
                            <a:rPr lang="en-IN" i="1">
                              <a:latin typeface="Cambria Math" panose="02040503050406030204" pitchFamily="18" charset="0"/>
                            </a:rPr>
                          </m:ctrlPr>
                        </m:naryPr>
                        <m:sub>
                          <m:r>
                            <a:rPr lang="en-IN" i="1">
                              <a:latin typeface="Cambria Math" panose="02040503050406030204" pitchFamily="18" charset="0"/>
                            </a:rPr>
                            <m:t>𝑥</m:t>
                          </m:r>
                          <m:r>
                            <a:rPr lang="en-IN" i="1">
                              <a:latin typeface="Cambria Math" panose="02040503050406030204" pitchFamily="18" charset="0"/>
                            </a:rPr>
                            <m:t>∈</m:t>
                          </m:r>
                          <m:r>
                            <m:rPr>
                              <m:lit/>
                            </m:rPr>
                            <a:rPr lang="en-IN" i="1">
                              <a:latin typeface="Cambria Math" panose="02040503050406030204" pitchFamily="18" charset="0"/>
                            </a:rPr>
                            <m:t>{</m:t>
                          </m:r>
                          <m:r>
                            <a:rPr lang="en-IN" i="1">
                              <a:latin typeface="Cambria Math" panose="02040503050406030204" pitchFamily="18" charset="0"/>
                            </a:rPr>
                            <m:t>𝑎</m:t>
                          </m:r>
                          <m:r>
                            <a:rPr lang="en-IN" i="1">
                              <a:latin typeface="Cambria Math" panose="02040503050406030204" pitchFamily="18" charset="0"/>
                            </a:rPr>
                            <m:t>,</m:t>
                          </m:r>
                          <m:r>
                            <a:rPr lang="en-IN" i="1">
                              <a:latin typeface="Cambria Math" panose="02040503050406030204" pitchFamily="18" charset="0"/>
                            </a:rPr>
                            <m:t>𝑏</m:t>
                          </m:r>
                          <m:r>
                            <a:rPr lang="en-IN" i="1">
                              <a:latin typeface="Cambria Math" panose="02040503050406030204" pitchFamily="18" charset="0"/>
                            </a:rPr>
                            <m:t>,</m:t>
                          </m:r>
                          <m:r>
                            <a:rPr lang="en-IN" i="1">
                              <a:latin typeface="Cambria Math" panose="02040503050406030204" pitchFamily="18" charset="0"/>
                            </a:rPr>
                            <m:t>𝑐</m:t>
                          </m:r>
                          <m:r>
                            <m:rPr>
                              <m:lit/>
                            </m:rPr>
                            <a:rPr lang="en-IN" i="1">
                              <a:latin typeface="Cambria Math" panose="02040503050406030204" pitchFamily="18" charset="0"/>
                            </a:rPr>
                            <m:t>}</m:t>
                          </m:r>
                        </m:sub>
                        <m:sup/>
                        <m:e>
                          <m:d>
                            <m:dPr>
                              <m:begChr m:val="|"/>
                              <m:endChr m:val="|"/>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𝑥</m:t>
                                  </m:r>
                                </m:sub>
                              </m:sSub>
                              <m:d>
                                <m:dPr>
                                  <m:ctrlPr>
                                    <a:rPr lang="en-IN" i="1">
                                      <a:latin typeface="Cambria Math" panose="02040503050406030204" pitchFamily="18" charset="0"/>
                                    </a:rPr>
                                  </m:ctrlPr>
                                </m:dPr>
                                <m:e>
                                  <m:r>
                                    <a:rPr lang="en-IN" i="1">
                                      <a:latin typeface="Cambria Math" panose="02040503050406030204" pitchFamily="18" charset="0"/>
                                    </a:rPr>
                                    <m:t>𝑘</m:t>
                                  </m:r>
                                </m:e>
                              </m:d>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𝑥</m:t>
                                  </m:r>
                                </m:sub>
                              </m:sSub>
                              <m:d>
                                <m:dPr>
                                  <m:ctrlPr>
                                    <a:rPr lang="en-IN" i="1">
                                      <a:latin typeface="Cambria Math" panose="02040503050406030204" pitchFamily="18" charset="0"/>
                                    </a:rPr>
                                  </m:ctrlPr>
                                </m:dPr>
                                <m:e>
                                  <m:r>
                                    <a:rPr lang="en-IN" i="1">
                                      <a:latin typeface="Cambria Math" panose="02040503050406030204" pitchFamily="18" charset="0"/>
                                    </a:rPr>
                                    <m:t>𝑘</m:t>
                                  </m:r>
                                  <m:r>
                                    <a:rPr lang="en-IN" i="1">
                                      <a:latin typeface="Cambria Math" panose="02040503050406030204" pitchFamily="18" charset="0"/>
                                    </a:rPr>
                                    <m:t>−1</m:t>
                                  </m:r>
                                </m:e>
                              </m:d>
                            </m:e>
                          </m:d>
                        </m:e>
                      </m:nary>
                    </m:oMath>
                  </m:oMathPara>
                </a14:m>
                <a:endParaRPr lang="en-IN" dirty="0"/>
              </a:p>
            </p:txBody>
          </p:sp>
        </mc:Choice>
        <mc:Fallback>
          <p:sp>
            <p:nvSpPr>
              <p:cNvPr id="7" name="TextBox 6">
                <a:extLst>
                  <a:ext uri="{FF2B5EF4-FFF2-40B4-BE49-F238E27FC236}">
                    <a16:creationId xmlns:a16="http://schemas.microsoft.com/office/drawing/2014/main" id="{D8C34DB6-8DD2-63AA-650D-DC71EE75C292}"/>
                  </a:ext>
                </a:extLst>
              </p:cNvPr>
              <p:cNvSpPr txBox="1">
                <a:spLocks noRot="1" noChangeAspect="1" noMove="1" noResize="1" noEditPoints="1" noAdjustHandles="1" noChangeArrowheads="1" noChangeShapeType="1" noTextEdit="1"/>
              </p:cNvSpPr>
              <p:nvPr/>
            </p:nvSpPr>
            <p:spPr>
              <a:xfrm>
                <a:off x="626067" y="3139763"/>
                <a:ext cx="3308855" cy="708399"/>
              </a:xfrm>
              <a:prstGeom prst="rect">
                <a:avLst/>
              </a:prstGeom>
              <a:blipFill>
                <a:blip r:embed="rId3"/>
                <a:stretch>
                  <a:fillRect/>
                </a:stretch>
              </a:blipFill>
            </p:spPr>
            <p:txBody>
              <a:bodyPr/>
              <a:lstStyle/>
              <a:p>
                <a:r>
                  <a:rPr lang="en-IN">
                    <a:noFill/>
                  </a:rPr>
                  <a:t> </a:t>
                </a:r>
              </a:p>
            </p:txBody>
          </p:sp>
        </mc:Fallback>
      </mc:AlternateContent>
      <p:pic>
        <p:nvPicPr>
          <p:cNvPr id="10" name="Picture 9">
            <a:extLst>
              <a:ext uri="{FF2B5EF4-FFF2-40B4-BE49-F238E27FC236}">
                <a16:creationId xmlns:a16="http://schemas.microsoft.com/office/drawing/2014/main" id="{62F2B3B4-6C25-3411-6506-364E7452D99E}"/>
              </a:ext>
            </a:extLst>
          </p:cNvPr>
          <p:cNvPicPr>
            <a:picLocks noChangeAspect="1"/>
          </p:cNvPicPr>
          <p:nvPr/>
        </p:nvPicPr>
        <p:blipFill>
          <a:blip r:embed="rId4"/>
          <a:stretch>
            <a:fillRect/>
          </a:stretch>
        </p:blipFill>
        <p:spPr>
          <a:xfrm>
            <a:off x="4163620" y="3057796"/>
            <a:ext cx="2946192" cy="872331"/>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A160C679-58CA-7643-0571-DBBAA67BC291}"/>
                  </a:ext>
                </a:extLst>
              </p:cNvPr>
              <p:cNvSpPr txBox="1"/>
              <p:nvPr/>
            </p:nvSpPr>
            <p:spPr>
              <a:xfrm>
                <a:off x="2738103" y="4450307"/>
                <a:ext cx="2111219" cy="322845"/>
              </a:xfrm>
              <a:prstGeom prst="rect">
                <a:avLst/>
              </a:prstGeom>
              <a:noFill/>
            </p:spPr>
            <p:txBody>
              <a:bodyPr wrap="none" lIns="0" tIns="0" rIns="0" bIns="0" rtlCol="0">
                <a:spAutoFit/>
              </a:bodyPr>
              <a:lstStyle/>
              <a:p>
                <a14:m>
                  <m:oMathPara xmlns:m="http://schemas.openxmlformats.org/officeDocument/2006/math">
                    <m:oMathParaPr>
                      <m:jc m:val="centerGroup"/>
                    </m:oMathParaPr>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𝑔</m:t>
                          </m:r>
                        </m:e>
                        <m:sub>
                          <m:r>
                            <a:rPr lang="en-IN" i="1">
                              <a:latin typeface="Cambria Math" panose="02040503050406030204" pitchFamily="18" charset="0"/>
                            </a:rPr>
                            <m:t>𝑜𝑝𝑡</m:t>
                          </m:r>
                        </m:sub>
                      </m:sSub>
                      <m:r>
                        <a:rPr lang="en-IN" i="1">
                          <a:latin typeface="Cambria Math" panose="02040503050406030204" pitchFamily="18" charset="0"/>
                        </a:rPr>
                        <m:t>=</m:t>
                      </m:r>
                      <m:r>
                        <a:rPr lang="en-IN" i="1">
                          <a:latin typeface="Cambria Math" panose="02040503050406030204" pitchFamily="18" charset="0"/>
                        </a:rPr>
                        <m:t>𝑔</m:t>
                      </m:r>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𝑌</m:t>
                          </m:r>
                        </m:e>
                        <m:sub>
                          <m:r>
                            <a:rPr lang="en-IN" i="1">
                              <a:latin typeface="Cambria Math" panose="02040503050406030204" pitchFamily="18" charset="0"/>
                            </a:rPr>
                            <m:t>𝑙𝑖𝑚</m:t>
                          </m:r>
                        </m:sub>
                      </m:sSub>
                      <m:d>
                        <m:dPr>
                          <m:ctrlPr>
                            <a:rPr lang="en-IN" i="1">
                              <a:latin typeface="Cambria Math" panose="02040503050406030204" pitchFamily="18" charset="0"/>
                            </a:rPr>
                          </m:ctrlPr>
                        </m:dPr>
                        <m:e>
                          <m:sSub>
                            <m:sSubPr>
                              <m:ctrlPr>
                                <a:rPr lang="en-IN" i="1">
                                  <a:latin typeface="Cambria Math" panose="02040503050406030204" pitchFamily="18" charset="0"/>
                                </a:rPr>
                              </m:ctrlPr>
                            </m:sSubPr>
                            <m:e>
                              <m:r>
                                <a:rPr lang="en-IN" i="1">
                                  <a:latin typeface="Cambria Math" panose="02040503050406030204" pitchFamily="18" charset="0"/>
                                </a:rPr>
                                <m:t>𝜆</m:t>
                              </m:r>
                            </m:e>
                            <m:sub>
                              <m:sSub>
                                <m:sSubPr>
                                  <m:ctrlPr>
                                    <a:rPr lang="en-IN" i="1">
                                      <a:latin typeface="Cambria Math" panose="02040503050406030204" pitchFamily="18" charset="0"/>
                                    </a:rPr>
                                  </m:ctrlPr>
                                </m:sSubPr>
                                <m:e>
                                  <m:r>
                                    <a:rPr lang="en-IN" i="1">
                                      <a:latin typeface="Cambria Math" panose="02040503050406030204" pitchFamily="18" charset="0"/>
                                    </a:rPr>
                                    <m:t>𝑆</m:t>
                                  </m:r>
                                </m:e>
                                <m:sub>
                                  <m:r>
                                    <a:rPr lang="en-IN" i="1">
                                      <a:latin typeface="Cambria Math" panose="02040503050406030204" pitchFamily="18" charset="0"/>
                                    </a:rPr>
                                    <m:t>𝑘</m:t>
                                  </m:r>
                                </m:sub>
                              </m:sSub>
                            </m:sub>
                          </m:sSub>
                        </m:e>
                      </m:d>
                    </m:oMath>
                  </m:oMathPara>
                </a14:m>
                <a:endParaRPr lang="en-IN" dirty="0"/>
              </a:p>
            </p:txBody>
          </p:sp>
        </mc:Choice>
        <mc:Fallback>
          <p:sp>
            <p:nvSpPr>
              <p:cNvPr id="11" name="TextBox 10">
                <a:extLst>
                  <a:ext uri="{FF2B5EF4-FFF2-40B4-BE49-F238E27FC236}">
                    <a16:creationId xmlns:a16="http://schemas.microsoft.com/office/drawing/2014/main" id="{A160C679-58CA-7643-0571-DBBAA67BC291}"/>
                  </a:ext>
                </a:extLst>
              </p:cNvPr>
              <p:cNvSpPr txBox="1">
                <a:spLocks noRot="1" noChangeAspect="1" noMove="1" noResize="1" noEditPoints="1" noAdjustHandles="1" noChangeArrowheads="1" noChangeShapeType="1" noTextEdit="1"/>
              </p:cNvSpPr>
              <p:nvPr/>
            </p:nvSpPr>
            <p:spPr>
              <a:xfrm>
                <a:off x="2738103" y="4450307"/>
                <a:ext cx="2111219" cy="322845"/>
              </a:xfrm>
              <a:prstGeom prst="rect">
                <a:avLst/>
              </a:prstGeom>
              <a:blipFill>
                <a:blip r:embed="rId5"/>
                <a:stretch>
                  <a:fillRect l="-2312" b="-18868"/>
                </a:stretch>
              </a:blipFill>
            </p:spPr>
            <p:txBody>
              <a:bodyPr/>
              <a:lstStyle/>
              <a:p>
                <a:r>
                  <a:rPr lang="en-IN">
                    <a:noFill/>
                  </a:rPr>
                  <a:t> </a:t>
                </a:r>
              </a:p>
            </p:txBody>
          </p:sp>
        </mc:Fallback>
      </mc:AlternateContent>
    </p:spTree>
    <p:extLst>
      <p:ext uri="{BB962C8B-B14F-4D97-AF65-F5344CB8AC3E}">
        <p14:creationId xmlns:p14="http://schemas.microsoft.com/office/powerpoint/2010/main" val="245992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9010B-F8C1-0C2A-98BC-7FAB58F42B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77F65D-ED63-E93E-7EF3-F3FEA7F6B04C}"/>
              </a:ext>
            </a:extLst>
          </p:cNvPr>
          <p:cNvSpPr>
            <a:spLocks noGrp="1"/>
          </p:cNvSpPr>
          <p:nvPr>
            <p:ph type="title"/>
          </p:nvPr>
        </p:nvSpPr>
        <p:spPr>
          <a:xfrm>
            <a:off x="397565" y="579566"/>
            <a:ext cx="6137744" cy="471593"/>
          </a:xfrm>
        </p:spPr>
        <p:txBody>
          <a:bodyPr/>
          <a:lstStyle/>
          <a:p>
            <a:r>
              <a:rPr lang="en-IN" b="1" dirty="0">
                <a:solidFill>
                  <a:schemeClr val="accent1">
                    <a:lumMod val="75000"/>
                  </a:schemeClr>
                </a:solidFill>
              </a:rPr>
              <a:t>Hybrid Model Predictive Control</a:t>
            </a:r>
          </a:p>
        </p:txBody>
      </p:sp>
      <p:sp>
        <p:nvSpPr>
          <p:cNvPr id="5" name="Content Placeholder 4">
            <a:extLst>
              <a:ext uri="{FF2B5EF4-FFF2-40B4-BE49-F238E27FC236}">
                <a16:creationId xmlns:a16="http://schemas.microsoft.com/office/drawing/2014/main" id="{5A5DCCD4-36AD-235C-D923-B5336228E428}"/>
              </a:ext>
            </a:extLst>
          </p:cNvPr>
          <p:cNvSpPr>
            <a:spLocks noGrp="1"/>
          </p:cNvSpPr>
          <p:nvPr>
            <p:ph idx="1"/>
          </p:nvPr>
        </p:nvSpPr>
        <p:spPr>
          <a:xfrm>
            <a:off x="132029" y="1372634"/>
            <a:ext cx="7827226" cy="4544637"/>
          </a:xfrm>
        </p:spPr>
        <p:txBody>
          <a:bodyPr>
            <a:normAutofit/>
          </a:bodyPr>
          <a:lstStyle/>
          <a:p>
            <a:r>
              <a:rPr lang="en-US" sz="1800" dirty="0"/>
              <a:t>The proposed MPC is a hybrid control strategy that trades off CMV reduction, switching minimization, and tracking accuracy.</a:t>
            </a:r>
          </a:p>
          <a:p>
            <a:r>
              <a:rPr lang="en-IN" sz="1800" dirty="0"/>
              <a:t>During each sampling period, the controller assesses the cost function for all candidate voltage vectors and selects the minimiser.</a:t>
            </a:r>
          </a:p>
          <a:p>
            <a:r>
              <a:rPr lang="en-IN" sz="1800" b="1" dirty="0"/>
              <a:t> </a:t>
            </a:r>
            <a:r>
              <a:rPr lang="en-US" sz="1800" dirty="0"/>
              <a:t>If an active vector yields the lowest cost, it is applied for the entire sampling period Ts to preserve tracking accuracy.</a:t>
            </a:r>
          </a:p>
          <a:p>
            <a:r>
              <a:rPr lang="en-IN" sz="1800" dirty="0"/>
              <a:t>When the zero vector constitutes the optimal choice, a VZV is synthesized by applying a pair of opposite active vectors in symmetrical manner within the interval, this prevents large neutral-point excursions and keeps the CMV bounded to ±Vdc/6.</a:t>
            </a:r>
          </a:p>
          <a:p>
            <a:r>
              <a:rPr lang="en-US" sz="1800" dirty="0"/>
              <a:t>For all remaining cases, transitions are constrained to adjacent voltage vectors (single-switch changes) so as to minimize the number of switching events.</a:t>
            </a:r>
            <a:endParaRPr lang="en-US" sz="1800" b="1" dirty="0"/>
          </a:p>
        </p:txBody>
      </p:sp>
      <p:sp>
        <p:nvSpPr>
          <p:cNvPr id="4" name="Slide Number Placeholder 3">
            <a:extLst>
              <a:ext uri="{FF2B5EF4-FFF2-40B4-BE49-F238E27FC236}">
                <a16:creationId xmlns:a16="http://schemas.microsoft.com/office/drawing/2014/main" id="{1FACAFC0-9C76-A54D-4EE4-C30C05138DAA}"/>
              </a:ext>
            </a:extLst>
          </p:cNvPr>
          <p:cNvSpPr>
            <a:spLocks noGrp="1"/>
          </p:cNvSpPr>
          <p:nvPr>
            <p:ph type="sldNum" sz="quarter" idx="12"/>
          </p:nvPr>
        </p:nvSpPr>
        <p:spPr/>
        <p:txBody>
          <a:bodyPr/>
          <a:lstStyle/>
          <a:p>
            <a:fld id="{241BFB48-7771-40F1-A34B-9DBE21ACBAA3}" type="slidenum">
              <a:rPr lang="en-US" smtClean="0"/>
              <a:pPr/>
              <a:t>10</a:t>
            </a:fld>
            <a:endParaRPr lang="en-US" dirty="0"/>
          </a:p>
        </p:txBody>
      </p:sp>
      <p:pic>
        <p:nvPicPr>
          <p:cNvPr id="6" name="Picture 5">
            <a:extLst>
              <a:ext uri="{FF2B5EF4-FFF2-40B4-BE49-F238E27FC236}">
                <a16:creationId xmlns:a16="http://schemas.microsoft.com/office/drawing/2014/main" id="{8EEB8210-0D3F-8FD1-9A85-37C0839D1EC6}"/>
              </a:ext>
            </a:extLst>
          </p:cNvPr>
          <p:cNvPicPr>
            <a:picLocks noChangeAspect="1"/>
          </p:cNvPicPr>
          <p:nvPr/>
        </p:nvPicPr>
        <p:blipFill>
          <a:blip r:embed="rId2"/>
          <a:stretch>
            <a:fillRect/>
          </a:stretch>
        </p:blipFill>
        <p:spPr>
          <a:xfrm>
            <a:off x="7647089" y="75812"/>
            <a:ext cx="3804758" cy="5962779"/>
          </a:xfrm>
          <a:prstGeom prst="rect">
            <a:avLst/>
          </a:prstGeom>
        </p:spPr>
      </p:pic>
      <p:pic>
        <p:nvPicPr>
          <p:cNvPr id="7" name="Picture 2" descr="IIT Bhubaneswar - Wikipedia">
            <a:extLst>
              <a:ext uri="{FF2B5EF4-FFF2-40B4-BE49-F238E27FC236}">
                <a16:creationId xmlns:a16="http://schemas.microsoft.com/office/drawing/2014/main" id="{0A99F589-3593-EBC3-4DA8-D75D04A693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DE718A8-34CF-C4AD-605C-4BFF6B39F8C2}"/>
              </a:ext>
            </a:extLst>
          </p:cNvPr>
          <p:cNvSpPr txBox="1"/>
          <p:nvPr/>
        </p:nvSpPr>
        <p:spPr>
          <a:xfrm>
            <a:off x="8468139" y="6038591"/>
            <a:ext cx="2529923" cy="369332"/>
          </a:xfrm>
          <a:prstGeom prst="rect">
            <a:avLst/>
          </a:prstGeom>
          <a:noFill/>
        </p:spPr>
        <p:txBody>
          <a:bodyPr wrap="none" rtlCol="0">
            <a:spAutoFit/>
          </a:bodyPr>
          <a:lstStyle/>
          <a:p>
            <a:r>
              <a:rPr lang="en-IN" dirty="0"/>
              <a:t>Flowchart of Hybrid MPC</a:t>
            </a:r>
          </a:p>
        </p:txBody>
      </p:sp>
    </p:spTree>
    <p:extLst>
      <p:ext uri="{BB962C8B-B14F-4D97-AF65-F5344CB8AC3E}">
        <p14:creationId xmlns:p14="http://schemas.microsoft.com/office/powerpoint/2010/main" val="351339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BBC48-9E6A-F70D-4545-5E90299A2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63FB82-B52A-A310-4D92-4B42A52E74C4}"/>
              </a:ext>
            </a:extLst>
          </p:cNvPr>
          <p:cNvSpPr>
            <a:spLocks noGrp="1"/>
          </p:cNvSpPr>
          <p:nvPr>
            <p:ph type="title"/>
          </p:nvPr>
        </p:nvSpPr>
        <p:spPr>
          <a:xfrm>
            <a:off x="628153" y="343770"/>
            <a:ext cx="5641620" cy="471593"/>
          </a:xfrm>
        </p:spPr>
        <p:txBody>
          <a:bodyPr/>
          <a:lstStyle/>
          <a:p>
            <a:r>
              <a:rPr lang="en-IN" b="1" dirty="0">
                <a:solidFill>
                  <a:schemeClr val="accent1">
                    <a:lumMod val="75000"/>
                  </a:schemeClr>
                </a:solidFill>
              </a:rPr>
              <a:t>Simulation and </a:t>
            </a:r>
            <a:r>
              <a:rPr lang="en-IN" b="1" dirty="0" err="1">
                <a:solidFill>
                  <a:schemeClr val="accent1">
                    <a:lumMod val="75000"/>
                  </a:schemeClr>
                </a:solidFill>
              </a:rPr>
              <a:t>Comparsion</a:t>
            </a:r>
            <a:r>
              <a:rPr lang="en-IN" b="1" dirty="0">
                <a:solidFill>
                  <a:schemeClr val="accent1">
                    <a:lumMod val="75000"/>
                  </a:schemeClr>
                </a:solidFill>
              </a:rPr>
              <a:t> :</a:t>
            </a:r>
          </a:p>
        </p:txBody>
      </p:sp>
      <p:sp>
        <p:nvSpPr>
          <p:cNvPr id="5" name="Content Placeholder 4">
            <a:extLst>
              <a:ext uri="{FF2B5EF4-FFF2-40B4-BE49-F238E27FC236}">
                <a16:creationId xmlns:a16="http://schemas.microsoft.com/office/drawing/2014/main" id="{362B7074-37A0-2393-01EC-92D26D2256C1}"/>
              </a:ext>
            </a:extLst>
          </p:cNvPr>
          <p:cNvSpPr>
            <a:spLocks noGrp="1"/>
          </p:cNvSpPr>
          <p:nvPr>
            <p:ph idx="1"/>
          </p:nvPr>
        </p:nvSpPr>
        <p:spPr>
          <a:xfrm>
            <a:off x="163834" y="946206"/>
            <a:ext cx="7731811" cy="5184249"/>
          </a:xfrm>
        </p:spPr>
        <p:txBody>
          <a:bodyPr>
            <a:normAutofit/>
          </a:bodyPr>
          <a:lstStyle/>
          <a:p>
            <a:r>
              <a:rPr lang="en-US" sz="1800" dirty="0"/>
              <a:t>Simulations were carried out in MATLAB/Simulink using the PMSM parameters listed in Table-1.</a:t>
            </a:r>
          </a:p>
          <a:p>
            <a:r>
              <a:rPr lang="en-US" sz="1800" dirty="0"/>
              <a:t>The DC-link voltage was set to 560V and the prediction time to 1µs.The simulation duration was 5 s.</a:t>
            </a:r>
          </a:p>
          <a:p>
            <a:r>
              <a:rPr lang="en-US" sz="1800" dirty="0"/>
              <a:t>The speed reference was set to 100 rpm initially, stepped to 200rpm at 1.5 s, and decreased to 75 rpm at 3.5 s. The torque on motor was 0N·m until it stepped to 200N·m at 2.5s.</a:t>
            </a:r>
          </a:p>
          <a:p>
            <a:r>
              <a:rPr lang="en-IN" sz="1800" dirty="0"/>
              <a:t>Since switching losses are proportional to the number of transitions, the total switching count provides a direct and effective metric for comparing the switching loss performance of various control algorithms.</a:t>
            </a:r>
            <a:endParaRPr lang="en-US" sz="1800" dirty="0"/>
          </a:p>
          <a:p>
            <a:r>
              <a:rPr lang="en-US" sz="1800" dirty="0"/>
              <a:t>Four control strategies as defined in Table-2 are compared.</a:t>
            </a:r>
          </a:p>
          <a:p>
            <a:r>
              <a:rPr lang="en-IN" sz="1800" dirty="0"/>
              <a:t>For each controller, the following performance metrics were recorded and tabulated:</a:t>
            </a:r>
          </a:p>
          <a:p>
            <a:pPr lvl="1"/>
            <a:r>
              <a:rPr lang="en-IN" sz="1600" dirty="0"/>
              <a:t>(</a:t>
            </a:r>
            <a:r>
              <a:rPr lang="en-IN" sz="1600" dirty="0" err="1"/>
              <a:t>i</a:t>
            </a:r>
            <a:r>
              <a:rPr lang="en-IN" sz="1600" dirty="0"/>
              <a:t>) total harmonic distortion (THD) of the stator currents </a:t>
            </a:r>
          </a:p>
          <a:p>
            <a:pPr lvl="1"/>
            <a:r>
              <a:rPr lang="en-IN" sz="1600" dirty="0"/>
              <a:t>(ii) total number of switching events (summed across all inverter switches)</a:t>
            </a:r>
          </a:p>
          <a:p>
            <a:pPr lvl="1"/>
            <a:r>
              <a:rPr lang="en-IN" sz="1600" dirty="0"/>
              <a:t>(iii) number of CMV spikes.</a:t>
            </a:r>
            <a:endParaRPr lang="en-US" sz="1600" dirty="0"/>
          </a:p>
          <a:p>
            <a:endParaRPr lang="en-US" sz="1800" dirty="0"/>
          </a:p>
          <a:p>
            <a:endParaRPr lang="en-US" sz="1800" b="1" i="1" dirty="0"/>
          </a:p>
        </p:txBody>
      </p:sp>
      <p:sp>
        <p:nvSpPr>
          <p:cNvPr id="4" name="Slide Number Placeholder 3">
            <a:extLst>
              <a:ext uri="{FF2B5EF4-FFF2-40B4-BE49-F238E27FC236}">
                <a16:creationId xmlns:a16="http://schemas.microsoft.com/office/drawing/2014/main" id="{5E939B46-78E5-63C0-B1D8-1A50DC63C65A}"/>
              </a:ext>
            </a:extLst>
          </p:cNvPr>
          <p:cNvSpPr>
            <a:spLocks noGrp="1"/>
          </p:cNvSpPr>
          <p:nvPr>
            <p:ph type="sldNum" sz="quarter" idx="12"/>
          </p:nvPr>
        </p:nvSpPr>
        <p:spPr/>
        <p:txBody>
          <a:bodyPr/>
          <a:lstStyle/>
          <a:p>
            <a:fld id="{241BFB48-7771-40F1-A34B-9DBE21ACBAA3}" type="slidenum">
              <a:rPr lang="en-US" smtClean="0"/>
              <a:pPr/>
              <a:t>11</a:t>
            </a:fld>
            <a:endParaRPr lang="en-US" dirty="0"/>
          </a:p>
        </p:txBody>
      </p:sp>
      <p:pic>
        <p:nvPicPr>
          <p:cNvPr id="7" name="Picture 2" descr="IIT Bhubaneswar - Wikipedia">
            <a:extLst>
              <a:ext uri="{FF2B5EF4-FFF2-40B4-BE49-F238E27FC236}">
                <a16:creationId xmlns:a16="http://schemas.microsoft.com/office/drawing/2014/main" id="{01517F79-1DA8-EB57-B3A7-99E3456468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75FB8499-981A-03AD-9732-55A704DE87C0}"/>
              </a:ext>
            </a:extLst>
          </p:cNvPr>
          <p:cNvPicPr>
            <a:picLocks noChangeAspect="1"/>
          </p:cNvPicPr>
          <p:nvPr/>
        </p:nvPicPr>
        <p:blipFill>
          <a:blip r:embed="rId3"/>
          <a:stretch>
            <a:fillRect/>
          </a:stretch>
        </p:blipFill>
        <p:spPr>
          <a:xfrm>
            <a:off x="7750369" y="839398"/>
            <a:ext cx="4345758" cy="1953547"/>
          </a:xfrm>
          <a:prstGeom prst="rect">
            <a:avLst/>
          </a:prstGeom>
        </p:spPr>
      </p:pic>
      <p:pic>
        <p:nvPicPr>
          <p:cNvPr id="11" name="Picture 10">
            <a:extLst>
              <a:ext uri="{FF2B5EF4-FFF2-40B4-BE49-F238E27FC236}">
                <a16:creationId xmlns:a16="http://schemas.microsoft.com/office/drawing/2014/main" id="{6256D951-0219-0296-CE42-76A0202F7FC0}"/>
              </a:ext>
            </a:extLst>
          </p:cNvPr>
          <p:cNvPicPr>
            <a:picLocks noChangeAspect="1"/>
          </p:cNvPicPr>
          <p:nvPr/>
        </p:nvPicPr>
        <p:blipFill>
          <a:blip r:embed="rId4"/>
          <a:stretch>
            <a:fillRect/>
          </a:stretch>
        </p:blipFill>
        <p:spPr>
          <a:xfrm>
            <a:off x="7750369" y="3312500"/>
            <a:ext cx="4441631" cy="1665017"/>
          </a:xfrm>
          <a:prstGeom prst="rect">
            <a:avLst/>
          </a:prstGeom>
        </p:spPr>
      </p:pic>
      <p:pic>
        <p:nvPicPr>
          <p:cNvPr id="14" name="Picture 13">
            <a:extLst>
              <a:ext uri="{FF2B5EF4-FFF2-40B4-BE49-F238E27FC236}">
                <a16:creationId xmlns:a16="http://schemas.microsoft.com/office/drawing/2014/main" id="{36956680-1B28-1342-2611-62A9F3630E79}"/>
              </a:ext>
            </a:extLst>
          </p:cNvPr>
          <p:cNvPicPr>
            <a:picLocks noChangeAspect="1"/>
          </p:cNvPicPr>
          <p:nvPr/>
        </p:nvPicPr>
        <p:blipFill>
          <a:blip r:embed="rId5"/>
          <a:stretch>
            <a:fillRect/>
          </a:stretch>
        </p:blipFill>
        <p:spPr>
          <a:xfrm>
            <a:off x="7681774" y="815363"/>
            <a:ext cx="4482947" cy="2179554"/>
          </a:xfrm>
          <a:prstGeom prst="rect">
            <a:avLst/>
          </a:prstGeom>
        </p:spPr>
      </p:pic>
      <p:pic>
        <p:nvPicPr>
          <p:cNvPr id="16" name="Picture 15">
            <a:extLst>
              <a:ext uri="{FF2B5EF4-FFF2-40B4-BE49-F238E27FC236}">
                <a16:creationId xmlns:a16="http://schemas.microsoft.com/office/drawing/2014/main" id="{68466902-FEFE-82F5-1AD8-08FA06D6BBF9}"/>
              </a:ext>
            </a:extLst>
          </p:cNvPr>
          <p:cNvPicPr>
            <a:picLocks noChangeAspect="1"/>
          </p:cNvPicPr>
          <p:nvPr/>
        </p:nvPicPr>
        <p:blipFill>
          <a:blip r:embed="rId6"/>
          <a:stretch>
            <a:fillRect/>
          </a:stretch>
        </p:blipFill>
        <p:spPr>
          <a:xfrm>
            <a:off x="7775071" y="3241595"/>
            <a:ext cx="4441631" cy="1806826"/>
          </a:xfrm>
          <a:prstGeom prst="rect">
            <a:avLst/>
          </a:prstGeom>
        </p:spPr>
      </p:pic>
    </p:spTree>
    <p:extLst>
      <p:ext uri="{BB962C8B-B14F-4D97-AF65-F5344CB8AC3E}">
        <p14:creationId xmlns:p14="http://schemas.microsoft.com/office/powerpoint/2010/main" val="3916373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ADF9FBB-C717-B3B1-34A4-B03C433767D9}"/>
              </a:ext>
            </a:extLst>
          </p:cNvPr>
          <p:cNvSpPr>
            <a:spLocks noGrp="1"/>
          </p:cNvSpPr>
          <p:nvPr>
            <p:ph type="sldNum" sz="quarter" idx="12"/>
          </p:nvPr>
        </p:nvSpPr>
        <p:spPr/>
        <p:txBody>
          <a:bodyPr/>
          <a:lstStyle/>
          <a:p>
            <a:fld id="{241BFB48-7771-40F1-A34B-9DBE21ACBAA3}" type="slidenum">
              <a:rPr lang="en-US" smtClean="0"/>
              <a:pPr/>
              <a:t>12</a:t>
            </a:fld>
            <a:endParaRPr lang="en-US" dirty="0"/>
          </a:p>
        </p:txBody>
      </p:sp>
      <p:sp>
        <p:nvSpPr>
          <p:cNvPr id="12" name="Title 1">
            <a:extLst>
              <a:ext uri="{FF2B5EF4-FFF2-40B4-BE49-F238E27FC236}">
                <a16:creationId xmlns:a16="http://schemas.microsoft.com/office/drawing/2014/main" id="{01F3606B-D635-2DC8-BE70-23A88DFE5547}"/>
              </a:ext>
            </a:extLst>
          </p:cNvPr>
          <p:cNvSpPr>
            <a:spLocks noGrp="1"/>
          </p:cNvSpPr>
          <p:nvPr>
            <p:ph type="title"/>
          </p:nvPr>
        </p:nvSpPr>
        <p:spPr>
          <a:xfrm>
            <a:off x="190832" y="232452"/>
            <a:ext cx="5641620" cy="471593"/>
          </a:xfrm>
        </p:spPr>
        <p:txBody>
          <a:bodyPr/>
          <a:lstStyle/>
          <a:p>
            <a:r>
              <a:rPr lang="en-IN" b="1" dirty="0">
                <a:solidFill>
                  <a:schemeClr val="accent1">
                    <a:lumMod val="75000"/>
                  </a:schemeClr>
                </a:solidFill>
              </a:rPr>
              <a:t>Simulation and </a:t>
            </a:r>
            <a:r>
              <a:rPr lang="en-IN" b="1" dirty="0" err="1">
                <a:solidFill>
                  <a:schemeClr val="accent1">
                    <a:lumMod val="75000"/>
                  </a:schemeClr>
                </a:solidFill>
              </a:rPr>
              <a:t>Comparsion</a:t>
            </a:r>
            <a:r>
              <a:rPr lang="en-IN" b="1" dirty="0">
                <a:solidFill>
                  <a:schemeClr val="accent1">
                    <a:lumMod val="75000"/>
                  </a:schemeClr>
                </a:solidFill>
              </a:rPr>
              <a:t> :</a:t>
            </a:r>
          </a:p>
        </p:txBody>
      </p:sp>
      <p:pic>
        <p:nvPicPr>
          <p:cNvPr id="18" name="Picture 17">
            <a:extLst>
              <a:ext uri="{FF2B5EF4-FFF2-40B4-BE49-F238E27FC236}">
                <a16:creationId xmlns:a16="http://schemas.microsoft.com/office/drawing/2014/main" id="{E8189916-D118-39C2-3D2D-6A8B6F38C95D}"/>
              </a:ext>
            </a:extLst>
          </p:cNvPr>
          <p:cNvPicPr>
            <a:picLocks noChangeAspect="1"/>
          </p:cNvPicPr>
          <p:nvPr/>
        </p:nvPicPr>
        <p:blipFill>
          <a:blip r:embed="rId2"/>
          <a:stretch>
            <a:fillRect/>
          </a:stretch>
        </p:blipFill>
        <p:spPr>
          <a:xfrm>
            <a:off x="-10650" y="704045"/>
            <a:ext cx="12192000" cy="2816872"/>
          </a:xfrm>
          <a:prstGeom prst="rect">
            <a:avLst/>
          </a:prstGeom>
        </p:spPr>
      </p:pic>
      <p:pic>
        <p:nvPicPr>
          <p:cNvPr id="20" name="Picture 19">
            <a:extLst>
              <a:ext uri="{FF2B5EF4-FFF2-40B4-BE49-F238E27FC236}">
                <a16:creationId xmlns:a16="http://schemas.microsoft.com/office/drawing/2014/main" id="{3A3034D9-072E-3B28-798D-681EAF7CFB8F}"/>
              </a:ext>
            </a:extLst>
          </p:cNvPr>
          <p:cNvPicPr>
            <a:picLocks noChangeAspect="1"/>
          </p:cNvPicPr>
          <p:nvPr/>
        </p:nvPicPr>
        <p:blipFill>
          <a:blip r:embed="rId3"/>
          <a:stretch>
            <a:fillRect/>
          </a:stretch>
        </p:blipFill>
        <p:spPr>
          <a:xfrm>
            <a:off x="0" y="3718387"/>
            <a:ext cx="12085934" cy="2435568"/>
          </a:xfrm>
          <a:prstGeom prst="rect">
            <a:avLst/>
          </a:prstGeom>
        </p:spPr>
      </p:pic>
    </p:spTree>
    <p:extLst>
      <p:ext uri="{BB962C8B-B14F-4D97-AF65-F5344CB8AC3E}">
        <p14:creationId xmlns:p14="http://schemas.microsoft.com/office/powerpoint/2010/main" val="24552087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52E7AC7-8CCE-A4A2-9A1E-7F65BB0AFEC2}"/>
              </a:ext>
            </a:extLst>
          </p:cNvPr>
          <p:cNvSpPr>
            <a:spLocks noGrp="1"/>
          </p:cNvSpPr>
          <p:nvPr>
            <p:ph type="sldNum" sz="quarter" idx="12"/>
          </p:nvPr>
        </p:nvSpPr>
        <p:spPr/>
        <p:txBody>
          <a:bodyPr/>
          <a:lstStyle/>
          <a:p>
            <a:fld id="{241BFB48-7771-40F1-A34B-9DBE21ACBAA3}" type="slidenum">
              <a:rPr lang="en-US" smtClean="0"/>
              <a:pPr/>
              <a:t>13</a:t>
            </a:fld>
            <a:endParaRPr lang="en-US" dirty="0"/>
          </a:p>
        </p:txBody>
      </p:sp>
      <p:pic>
        <p:nvPicPr>
          <p:cNvPr id="16" name="Picture 15">
            <a:extLst>
              <a:ext uri="{FF2B5EF4-FFF2-40B4-BE49-F238E27FC236}">
                <a16:creationId xmlns:a16="http://schemas.microsoft.com/office/drawing/2014/main" id="{AD2B2C62-E9EC-47A7-329E-72BA4A0CCDF9}"/>
              </a:ext>
            </a:extLst>
          </p:cNvPr>
          <p:cNvPicPr>
            <a:picLocks noChangeAspect="1"/>
          </p:cNvPicPr>
          <p:nvPr/>
        </p:nvPicPr>
        <p:blipFill>
          <a:blip r:embed="rId2"/>
          <a:stretch>
            <a:fillRect/>
          </a:stretch>
        </p:blipFill>
        <p:spPr>
          <a:xfrm>
            <a:off x="-10650" y="880963"/>
            <a:ext cx="12192000" cy="1876262"/>
          </a:xfrm>
          <a:prstGeom prst="rect">
            <a:avLst/>
          </a:prstGeom>
        </p:spPr>
      </p:pic>
      <p:sp>
        <p:nvSpPr>
          <p:cNvPr id="5" name="Title 1">
            <a:extLst>
              <a:ext uri="{FF2B5EF4-FFF2-40B4-BE49-F238E27FC236}">
                <a16:creationId xmlns:a16="http://schemas.microsoft.com/office/drawing/2014/main" id="{2BDC6351-4F3E-7563-7DD0-CC452D248829}"/>
              </a:ext>
            </a:extLst>
          </p:cNvPr>
          <p:cNvSpPr>
            <a:spLocks noGrp="1"/>
          </p:cNvSpPr>
          <p:nvPr>
            <p:ph type="title"/>
          </p:nvPr>
        </p:nvSpPr>
        <p:spPr>
          <a:xfrm>
            <a:off x="190832" y="232452"/>
            <a:ext cx="5641620" cy="471593"/>
          </a:xfrm>
        </p:spPr>
        <p:txBody>
          <a:bodyPr/>
          <a:lstStyle/>
          <a:p>
            <a:r>
              <a:rPr lang="en-IN" b="1" dirty="0">
                <a:solidFill>
                  <a:schemeClr val="accent1">
                    <a:lumMod val="75000"/>
                  </a:schemeClr>
                </a:solidFill>
              </a:rPr>
              <a:t>Simulation and </a:t>
            </a:r>
            <a:r>
              <a:rPr lang="en-IN" b="1" dirty="0" err="1">
                <a:solidFill>
                  <a:schemeClr val="accent1">
                    <a:lumMod val="75000"/>
                  </a:schemeClr>
                </a:solidFill>
              </a:rPr>
              <a:t>Comparsion</a:t>
            </a:r>
            <a:r>
              <a:rPr lang="en-IN" b="1" dirty="0">
                <a:solidFill>
                  <a:schemeClr val="accent1">
                    <a:lumMod val="75000"/>
                  </a:schemeClr>
                </a:solidFill>
              </a:rPr>
              <a:t> :</a:t>
            </a:r>
          </a:p>
        </p:txBody>
      </p:sp>
      <p:sp>
        <p:nvSpPr>
          <p:cNvPr id="6" name="Content Placeholder 4">
            <a:extLst>
              <a:ext uri="{FF2B5EF4-FFF2-40B4-BE49-F238E27FC236}">
                <a16:creationId xmlns:a16="http://schemas.microsoft.com/office/drawing/2014/main" id="{433A194F-DAF8-F2C2-E77B-2970FFF32A25}"/>
              </a:ext>
            </a:extLst>
          </p:cNvPr>
          <p:cNvSpPr>
            <a:spLocks noGrp="1"/>
          </p:cNvSpPr>
          <p:nvPr>
            <p:ph idx="1"/>
          </p:nvPr>
        </p:nvSpPr>
        <p:spPr>
          <a:xfrm>
            <a:off x="190832" y="3299791"/>
            <a:ext cx="11219290" cy="3101562"/>
          </a:xfrm>
        </p:spPr>
        <p:txBody>
          <a:bodyPr>
            <a:normAutofit/>
          </a:bodyPr>
          <a:lstStyle/>
          <a:p>
            <a:r>
              <a:rPr lang="en-IN" sz="1800" dirty="0"/>
              <a:t>All four controllers demonstrated accurate speed reference tracking and torque delivery.</a:t>
            </a:r>
          </a:p>
          <a:p>
            <a:r>
              <a:rPr lang="en-US" sz="1800" dirty="0"/>
              <a:t>We can observe from above Table that Case-IV is a good trade-off between Case-II and Case-III. The Case-IV has no CMV spikes, and its average switching frequency is increased compared with the case I.</a:t>
            </a:r>
            <a:r>
              <a:rPr lang="en-IN" sz="1800" b="1" dirty="0"/>
              <a:t> </a:t>
            </a:r>
          </a:p>
          <a:p>
            <a:r>
              <a:rPr lang="en-US" sz="1800" dirty="0"/>
              <a:t>The proposed hybrid algorithm is a better compromise: it bounds the CMV to ±Vdc/6 and eliminates spikes, while increasing switching events by a more moderate 46.8% compared with the conventional method</a:t>
            </a:r>
            <a:endParaRPr lang="en-US" sz="1800" b="1" dirty="0"/>
          </a:p>
        </p:txBody>
      </p:sp>
    </p:spTree>
    <p:extLst>
      <p:ext uri="{BB962C8B-B14F-4D97-AF65-F5344CB8AC3E}">
        <p14:creationId xmlns:p14="http://schemas.microsoft.com/office/powerpoint/2010/main" val="432618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5B338D-D54F-A93A-060C-A2DC488D7F58}"/>
              </a:ext>
            </a:extLst>
          </p:cNvPr>
          <p:cNvSpPr>
            <a:spLocks noGrp="1"/>
          </p:cNvSpPr>
          <p:nvPr>
            <p:ph type="sldNum" sz="quarter" idx="12"/>
          </p:nvPr>
        </p:nvSpPr>
        <p:spPr/>
        <p:txBody>
          <a:bodyPr/>
          <a:lstStyle/>
          <a:p>
            <a:fld id="{241BFB48-7771-40F1-A34B-9DBE21ACBAA3}" type="slidenum">
              <a:rPr lang="en-US" smtClean="0"/>
              <a:pPr/>
              <a:t>14</a:t>
            </a:fld>
            <a:endParaRPr lang="en-US" dirty="0"/>
          </a:p>
        </p:txBody>
      </p:sp>
      <p:sp>
        <p:nvSpPr>
          <p:cNvPr id="9" name="Content Placeholder 8">
            <a:extLst>
              <a:ext uri="{FF2B5EF4-FFF2-40B4-BE49-F238E27FC236}">
                <a16:creationId xmlns:a16="http://schemas.microsoft.com/office/drawing/2014/main" id="{177A700F-A76B-6829-D397-6D4B58909A49}"/>
              </a:ext>
            </a:extLst>
          </p:cNvPr>
          <p:cNvSpPr>
            <a:spLocks noGrp="1"/>
          </p:cNvSpPr>
          <p:nvPr>
            <p:ph idx="1"/>
          </p:nvPr>
        </p:nvSpPr>
        <p:spPr>
          <a:xfrm>
            <a:off x="636104" y="1762890"/>
            <a:ext cx="10527527" cy="1425584"/>
          </a:xfrm>
        </p:spPr>
        <p:txBody>
          <a:bodyPr>
            <a:noAutofit/>
          </a:bodyPr>
          <a:lstStyle/>
          <a:p>
            <a:pPr marL="0" indent="0" algn="ctr">
              <a:buNone/>
            </a:pPr>
            <a:r>
              <a:rPr lang="en-IN" sz="9600" dirty="0">
                <a:solidFill>
                  <a:schemeClr val="accent1">
                    <a:lumMod val="75000"/>
                  </a:schemeClr>
                </a:solidFill>
                <a:latin typeface="Times New Roman" panose="02020603050405020304" pitchFamily="18" charset="0"/>
                <a:cs typeface="Times New Roman" panose="02020603050405020304" pitchFamily="18" charset="0"/>
              </a:rPr>
              <a:t>Thank You</a:t>
            </a:r>
          </a:p>
        </p:txBody>
      </p:sp>
      <p:pic>
        <p:nvPicPr>
          <p:cNvPr id="5" name="Picture 2" descr="IIT Bhubaneswar - Wikipedia">
            <a:extLst>
              <a:ext uri="{FF2B5EF4-FFF2-40B4-BE49-F238E27FC236}">
                <a16:creationId xmlns:a16="http://schemas.microsoft.com/office/drawing/2014/main" id="{A3B3427A-1192-4D92-22BB-C85EB8CE2C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44358" y="26756"/>
            <a:ext cx="851769" cy="788607"/>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8">
            <a:extLst>
              <a:ext uri="{FF2B5EF4-FFF2-40B4-BE49-F238E27FC236}">
                <a16:creationId xmlns:a16="http://schemas.microsoft.com/office/drawing/2014/main" id="{CDA54E3F-1690-ACCC-65E8-E36BE2A0DFFF}"/>
              </a:ext>
            </a:extLst>
          </p:cNvPr>
          <p:cNvSpPr txBox="1">
            <a:spLocks/>
          </p:cNvSpPr>
          <p:nvPr/>
        </p:nvSpPr>
        <p:spPr>
          <a:xfrm>
            <a:off x="716831" y="3847457"/>
            <a:ext cx="10527527" cy="14255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IN" sz="6000" dirty="0">
                <a:solidFill>
                  <a:schemeClr val="accent1">
                    <a:lumMod val="75000"/>
                  </a:schemeClr>
                </a:solidFill>
                <a:latin typeface="Times New Roman" panose="02020603050405020304" pitchFamily="18" charset="0"/>
                <a:cs typeface="Times New Roman" panose="02020603050405020304" pitchFamily="18" charset="0"/>
              </a:rPr>
              <a:t>Questions ??</a:t>
            </a:r>
          </a:p>
        </p:txBody>
      </p:sp>
    </p:spTree>
    <p:extLst>
      <p:ext uri="{BB962C8B-B14F-4D97-AF65-F5344CB8AC3E}">
        <p14:creationId xmlns:p14="http://schemas.microsoft.com/office/powerpoint/2010/main" val="703657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12803</TotalTime>
  <Words>1161</Words>
  <Application>Microsoft Office PowerPoint</Application>
  <PresentationFormat>Widescreen</PresentationFormat>
  <Paragraphs>139</Paragraphs>
  <Slides>14</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Cambria Math</vt:lpstr>
      <vt:lpstr>Times New Roman</vt:lpstr>
      <vt:lpstr>Office Theme</vt:lpstr>
      <vt:lpstr>A Hybrid Model Predictive Control of PMSM Drives with Common Mode Voltage and Switching Loss reduction </vt:lpstr>
      <vt:lpstr>Table of Contents</vt:lpstr>
      <vt:lpstr>PowerPoint Presentation</vt:lpstr>
      <vt:lpstr>Model Predictive Control</vt:lpstr>
      <vt:lpstr>Model Predictive Control</vt:lpstr>
      <vt:lpstr>What is Common Mode Voltage ?</vt:lpstr>
      <vt:lpstr>Motivation and Problem Statement</vt:lpstr>
      <vt:lpstr>Hybrid Model Predictive Control</vt:lpstr>
      <vt:lpstr>Hybrid Model Predictive Control</vt:lpstr>
      <vt:lpstr>Hybrid Model Predictive Control</vt:lpstr>
      <vt:lpstr>Simulation and Comparsion :</vt:lpstr>
      <vt:lpstr>Simulation and Comparsion :</vt:lpstr>
      <vt:lpstr>Simulation and Comparsion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Phosphorus as Promoter: Deydrogenation and Transfer Hydrogenation</dc:title>
  <dc:creator>Sampath, Abinaya</dc:creator>
  <cp:lastModifiedBy>M V ROHITH REDDY</cp:lastModifiedBy>
  <cp:revision>669</cp:revision>
  <dcterms:created xsi:type="dcterms:W3CDTF">2021-06-28T01:40:05Z</dcterms:created>
  <dcterms:modified xsi:type="dcterms:W3CDTF">2025-11-09T23:13:03Z</dcterms:modified>
</cp:coreProperties>
</file>